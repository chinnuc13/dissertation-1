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7620000" cy="7620000"/>
  <p:notesSz cx="6858000" cy="9144000"/>
  <p:embeddedFontLst>
    <p:embeddedFont>
      <p:font typeface="Times New Roman Bold" panose="02020803070505020304" pitchFamily="18" charset="0"/>
      <p:regular r:id="rId3"/>
      <p:bold r:id="rId4"/>
    </p:embeddedFont>
    <p:embeddedFont>
      <p:font typeface="Times New Roman Italics" panose="02020503050405090304" pitchFamily="18" charset="0"/>
      <p:regular r:id="rId5"/>
      <p:italic r:id="rId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 autoAdjust="0"/>
    <p:restoredTop sz="94598" autoAdjust="0"/>
  </p:normalViewPr>
  <p:slideViewPr>
    <p:cSldViewPr>
      <p:cViewPr varScale="1">
        <p:scale>
          <a:sx n="107" d="100"/>
          <a:sy n="107" d="100"/>
        </p:scale>
        <p:origin x="1408" y="16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font" Target="fonts/font1.fntdata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4.fntdata"/><Relationship Id="rId5" Type="http://schemas.openxmlformats.org/officeDocument/2006/relationships/font" Target="fonts/font3.fntdata"/><Relationship Id="rId10" Type="http://schemas.openxmlformats.org/officeDocument/2006/relationships/tableStyles" Target="tableStyles.xml"/><Relationship Id="rId4" Type="http://schemas.openxmlformats.org/officeDocument/2006/relationships/font" Target="fonts/font2.fntdata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hyperlink" Target="https://www.emerald.com/mrr/article/45/9/1229/305647" TargetMode="External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hyperlink" Target="https://www.nature.com/articles/s43016-022-00464-4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hyperlink" Target="https://journals.sagepub.com/doi/abs/10.1177/16094069241229985" TargetMode="External"/><Relationship Id="rId5" Type="http://schemas.openxmlformats.org/officeDocument/2006/relationships/image" Target="../media/image4.png"/><Relationship Id="rId15" Type="http://schemas.openxmlformats.org/officeDocument/2006/relationships/hyperlink" Target="https://www.cambridge.org/core/journals/journal-of-management-and-organization/article/antecedents-of-risk-and-uncertainty-management-capabilities-insights-from-multinational-enterprises-in-new-zealand/3099A5E049024F0CECB20DDFA397B916" TargetMode="External"/><Relationship Id="rId10" Type="http://schemas.openxmlformats.org/officeDocument/2006/relationships/hyperlink" Target="https://www.researchgate.net/profile/Bryan-Collins-4/publication/388653168_Legal_Challenges_and_Best_Practices_for_Structuring_Corporate_Partnerships_Joint_Ventures_and_Strategic_Alliances/links/67a1196596e7fb48b9b11d4b/Legal-Challenges-and-Best-Practices-for-Structuring-Corporate-Partnerships-Joint-Ventures-and-Strategic-Alliances.pdf" TargetMode="External"/><Relationship Id="rId4" Type="http://schemas.openxmlformats.org/officeDocument/2006/relationships/image" Target="../media/image3.png"/><Relationship Id="rId9" Type="http://schemas.openxmlformats.org/officeDocument/2006/relationships/hyperlink" Target="https://pdfs.semanticscholar.org/b76b/ff29715b465db49a3f2f8b30222f2bea02a8.pdf" TargetMode="External"/><Relationship Id="rId14" Type="http://schemas.openxmlformats.org/officeDocument/2006/relationships/hyperlink" Target="https://cyberleninka.ru/article/n/research-on-adapting-marketing-techniques-to-different-culture-economics-and-regulatory-environment-to-entering-new-internationa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8C52FF">
                <a:alpha val="100000"/>
              </a:srgbClr>
            </a:gs>
            <a:gs pos="100000">
              <a:srgbClr val="5CE1E6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48705" y="7455000"/>
            <a:ext cx="6032590" cy="270000"/>
            <a:chOff x="0" y="0"/>
            <a:chExt cx="3177166" cy="1422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177166" cy="142200"/>
            </a:xfrm>
            <a:custGeom>
              <a:avLst/>
              <a:gdLst/>
              <a:ahLst/>
              <a:cxnLst/>
              <a:rect l="l" t="t" r="r" b="b"/>
              <a:pathLst>
                <a:path w="3177166" h="142200">
                  <a:moveTo>
                    <a:pt x="61566" y="0"/>
                  </a:moveTo>
                  <a:lnTo>
                    <a:pt x="3115601" y="0"/>
                  </a:lnTo>
                  <a:cubicBezTo>
                    <a:pt x="3149603" y="0"/>
                    <a:pt x="3177166" y="27564"/>
                    <a:pt x="3177166" y="61566"/>
                  </a:cubicBezTo>
                  <a:lnTo>
                    <a:pt x="3177166" y="80634"/>
                  </a:lnTo>
                  <a:cubicBezTo>
                    <a:pt x="3177166" y="96963"/>
                    <a:pt x="3170680" y="112622"/>
                    <a:pt x="3159134" y="124168"/>
                  </a:cubicBezTo>
                  <a:cubicBezTo>
                    <a:pt x="3147588" y="135714"/>
                    <a:pt x="3131929" y="142200"/>
                    <a:pt x="3115601" y="142200"/>
                  </a:cubicBezTo>
                  <a:lnTo>
                    <a:pt x="61566" y="142200"/>
                  </a:lnTo>
                  <a:cubicBezTo>
                    <a:pt x="45237" y="142200"/>
                    <a:pt x="29578" y="135714"/>
                    <a:pt x="18032" y="124168"/>
                  </a:cubicBezTo>
                  <a:cubicBezTo>
                    <a:pt x="6486" y="112622"/>
                    <a:pt x="0" y="96963"/>
                    <a:pt x="0" y="80634"/>
                  </a:cubicBezTo>
                  <a:lnTo>
                    <a:pt x="0" y="61566"/>
                  </a:lnTo>
                  <a:cubicBezTo>
                    <a:pt x="0" y="45237"/>
                    <a:pt x="6486" y="29578"/>
                    <a:pt x="18032" y="18032"/>
                  </a:cubicBezTo>
                  <a:cubicBezTo>
                    <a:pt x="29578" y="6486"/>
                    <a:pt x="45237" y="0"/>
                    <a:pt x="61566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19050"/>
              <a:ext cx="3177166" cy="161250"/>
            </a:xfrm>
            <a:prstGeom prst="rect">
              <a:avLst/>
            </a:prstGeom>
          </p:spPr>
          <p:txBody>
            <a:bodyPr lIns="24442" tIns="24442" rIns="24442" bIns="24442" rtlCol="0" anchor="ctr"/>
            <a:lstStyle/>
            <a:p>
              <a:pPr algn="ctr">
                <a:lnSpc>
                  <a:spcPts val="1347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2795455" y="4305000"/>
            <a:ext cx="4909091" cy="1620000"/>
          </a:xfrm>
          <a:custGeom>
            <a:avLst/>
            <a:gdLst/>
            <a:ahLst/>
            <a:cxnLst/>
            <a:rect l="l" t="t" r="r" b="b"/>
            <a:pathLst>
              <a:path w="4909091" h="1620000">
                <a:moveTo>
                  <a:pt x="0" y="0"/>
                </a:moveTo>
                <a:lnTo>
                  <a:pt x="4909090" y="0"/>
                </a:lnTo>
                <a:lnTo>
                  <a:pt x="4909090" y="1620000"/>
                </a:lnTo>
                <a:lnTo>
                  <a:pt x="0" y="1620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 flipH="1">
            <a:off x="-174545" y="5835000"/>
            <a:ext cx="4909091" cy="1620000"/>
          </a:xfrm>
          <a:custGeom>
            <a:avLst/>
            <a:gdLst/>
            <a:ahLst/>
            <a:cxnLst/>
            <a:rect l="l" t="t" r="r" b="b"/>
            <a:pathLst>
              <a:path w="4909091" h="1620000">
                <a:moveTo>
                  <a:pt x="4909090" y="0"/>
                </a:moveTo>
                <a:lnTo>
                  <a:pt x="0" y="0"/>
                </a:lnTo>
                <a:lnTo>
                  <a:pt x="0" y="1620000"/>
                </a:lnTo>
                <a:lnTo>
                  <a:pt x="4909090" y="1620000"/>
                </a:lnTo>
                <a:lnTo>
                  <a:pt x="4909090" y="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2795455" y="1245000"/>
            <a:ext cx="4909091" cy="1620000"/>
          </a:xfrm>
          <a:custGeom>
            <a:avLst/>
            <a:gdLst/>
            <a:ahLst/>
            <a:cxnLst/>
            <a:rect l="l" t="t" r="r" b="b"/>
            <a:pathLst>
              <a:path w="4909091" h="1620000">
                <a:moveTo>
                  <a:pt x="0" y="0"/>
                </a:moveTo>
                <a:lnTo>
                  <a:pt x="4909090" y="0"/>
                </a:lnTo>
                <a:lnTo>
                  <a:pt x="4909090" y="1620000"/>
                </a:lnTo>
                <a:lnTo>
                  <a:pt x="0" y="1620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8" name="Group 8"/>
          <p:cNvGrpSpPr/>
          <p:nvPr/>
        </p:nvGrpSpPr>
        <p:grpSpPr>
          <a:xfrm>
            <a:off x="98602" y="1425000"/>
            <a:ext cx="6996398" cy="1350000"/>
            <a:chOff x="0" y="0"/>
            <a:chExt cx="3432163" cy="66225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432163" cy="662258"/>
            </a:xfrm>
            <a:custGeom>
              <a:avLst/>
              <a:gdLst/>
              <a:ahLst/>
              <a:cxnLst/>
              <a:rect l="l" t="t" r="r" b="b"/>
              <a:pathLst>
                <a:path w="3432163" h="662258">
                  <a:moveTo>
                    <a:pt x="56992" y="0"/>
                  </a:moveTo>
                  <a:lnTo>
                    <a:pt x="3375172" y="0"/>
                  </a:lnTo>
                  <a:cubicBezTo>
                    <a:pt x="3390286" y="0"/>
                    <a:pt x="3404782" y="6004"/>
                    <a:pt x="3415471" y="16692"/>
                  </a:cubicBezTo>
                  <a:cubicBezTo>
                    <a:pt x="3426159" y="27380"/>
                    <a:pt x="3432163" y="41876"/>
                    <a:pt x="3432163" y="56992"/>
                  </a:cubicBezTo>
                  <a:lnTo>
                    <a:pt x="3432163" y="605266"/>
                  </a:lnTo>
                  <a:cubicBezTo>
                    <a:pt x="3432163" y="636742"/>
                    <a:pt x="3406647" y="662258"/>
                    <a:pt x="3375172" y="662258"/>
                  </a:cubicBezTo>
                  <a:lnTo>
                    <a:pt x="56992" y="662258"/>
                  </a:lnTo>
                  <a:cubicBezTo>
                    <a:pt x="25516" y="662258"/>
                    <a:pt x="0" y="636742"/>
                    <a:pt x="0" y="605266"/>
                  </a:cubicBezTo>
                  <a:lnTo>
                    <a:pt x="0" y="56992"/>
                  </a:lnTo>
                  <a:cubicBezTo>
                    <a:pt x="0" y="25516"/>
                    <a:pt x="25516" y="0"/>
                    <a:pt x="56992" y="0"/>
                  </a:cubicBezTo>
                  <a:close/>
                </a:path>
              </a:pathLst>
            </a:custGeom>
            <a:solidFill>
              <a:srgbClr val="FFFFFF">
                <a:alpha val="89804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19050"/>
              <a:ext cx="3432163" cy="681308"/>
            </a:xfrm>
            <a:prstGeom prst="rect">
              <a:avLst/>
            </a:prstGeom>
          </p:spPr>
          <p:txBody>
            <a:bodyPr lIns="26241" tIns="26241" rIns="26241" bIns="26241" rtlCol="0" anchor="ctr"/>
            <a:lstStyle/>
            <a:p>
              <a:pPr algn="ctr">
                <a:lnSpc>
                  <a:spcPts val="1446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 flipH="1">
            <a:off x="-174545" y="2775000"/>
            <a:ext cx="4909091" cy="1620000"/>
          </a:xfrm>
          <a:custGeom>
            <a:avLst/>
            <a:gdLst/>
            <a:ahLst/>
            <a:cxnLst/>
            <a:rect l="l" t="t" r="r" b="b"/>
            <a:pathLst>
              <a:path w="4909091" h="1620000">
                <a:moveTo>
                  <a:pt x="4909090" y="0"/>
                </a:moveTo>
                <a:lnTo>
                  <a:pt x="0" y="0"/>
                </a:lnTo>
                <a:lnTo>
                  <a:pt x="0" y="1620000"/>
                </a:lnTo>
                <a:lnTo>
                  <a:pt x="4909090" y="1620000"/>
                </a:lnTo>
                <a:lnTo>
                  <a:pt x="4909090" y="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2" name="Group 12"/>
          <p:cNvGrpSpPr/>
          <p:nvPr/>
        </p:nvGrpSpPr>
        <p:grpSpPr>
          <a:xfrm>
            <a:off x="877590" y="-105000"/>
            <a:ext cx="6044820" cy="1260000"/>
            <a:chOff x="0" y="0"/>
            <a:chExt cx="3177166" cy="66225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3177166" cy="662258"/>
            </a:xfrm>
            <a:custGeom>
              <a:avLst/>
              <a:gdLst/>
              <a:ahLst/>
              <a:cxnLst/>
              <a:rect l="l" t="t" r="r" b="b"/>
              <a:pathLst>
                <a:path w="3177166" h="662258">
                  <a:moveTo>
                    <a:pt x="7859" y="0"/>
                  </a:moveTo>
                  <a:lnTo>
                    <a:pt x="3169307" y="0"/>
                  </a:lnTo>
                  <a:cubicBezTo>
                    <a:pt x="3173648" y="0"/>
                    <a:pt x="3177166" y="3519"/>
                    <a:pt x="3177166" y="7859"/>
                  </a:cubicBezTo>
                  <a:lnTo>
                    <a:pt x="3177166" y="654398"/>
                  </a:lnTo>
                  <a:cubicBezTo>
                    <a:pt x="3177166" y="658739"/>
                    <a:pt x="3173648" y="662258"/>
                    <a:pt x="3169307" y="662258"/>
                  </a:cubicBezTo>
                  <a:lnTo>
                    <a:pt x="7859" y="662258"/>
                  </a:lnTo>
                  <a:cubicBezTo>
                    <a:pt x="3519" y="662258"/>
                    <a:pt x="0" y="658739"/>
                    <a:pt x="0" y="654398"/>
                  </a:cubicBezTo>
                  <a:lnTo>
                    <a:pt x="0" y="7859"/>
                  </a:lnTo>
                  <a:cubicBezTo>
                    <a:pt x="0" y="3519"/>
                    <a:pt x="3519" y="0"/>
                    <a:pt x="7859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90057">
                    <a:alpha val="100000"/>
                  </a:srgbClr>
                </a:gs>
                <a:gs pos="50000">
                  <a:srgbClr val="1100A4">
                    <a:alpha val="100000"/>
                  </a:srgbClr>
                </a:gs>
                <a:gs pos="100000">
                  <a:srgbClr val="06003B">
                    <a:alpha val="100000"/>
                  </a:srgbClr>
                </a:gs>
              </a:gsLst>
              <a:lin ang="2700000"/>
            </a:gradFill>
            <a:ln w="28575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19050"/>
              <a:ext cx="3177166" cy="681308"/>
            </a:xfrm>
            <a:prstGeom prst="rect">
              <a:avLst/>
            </a:prstGeom>
          </p:spPr>
          <p:txBody>
            <a:bodyPr lIns="24491" tIns="24491" rIns="24491" bIns="24491" rtlCol="0" anchor="ctr"/>
            <a:lstStyle/>
            <a:p>
              <a:pPr algn="ctr">
                <a:lnSpc>
                  <a:spcPts val="134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5" name="Freeform 15"/>
          <p:cNvSpPr/>
          <p:nvPr/>
        </p:nvSpPr>
        <p:spPr>
          <a:xfrm>
            <a:off x="5185909" y="-195000"/>
            <a:ext cx="3818182" cy="1260000"/>
          </a:xfrm>
          <a:custGeom>
            <a:avLst/>
            <a:gdLst/>
            <a:ahLst/>
            <a:cxnLst/>
            <a:rect l="l" t="t" r="r" b="b"/>
            <a:pathLst>
              <a:path w="3818182" h="1260000">
                <a:moveTo>
                  <a:pt x="0" y="0"/>
                </a:moveTo>
                <a:lnTo>
                  <a:pt x="3818182" y="0"/>
                </a:lnTo>
                <a:lnTo>
                  <a:pt x="3818182" y="1260000"/>
                </a:lnTo>
                <a:lnTo>
                  <a:pt x="0" y="1260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6" name="Freeform 16"/>
          <p:cNvSpPr/>
          <p:nvPr/>
        </p:nvSpPr>
        <p:spPr>
          <a:xfrm flipH="1">
            <a:off x="0" y="-105000"/>
            <a:ext cx="2387727" cy="1170000"/>
          </a:xfrm>
          <a:custGeom>
            <a:avLst/>
            <a:gdLst/>
            <a:ahLst/>
            <a:cxnLst/>
            <a:rect l="l" t="t" r="r" b="b"/>
            <a:pathLst>
              <a:path w="2387727" h="1170000">
                <a:moveTo>
                  <a:pt x="2387727" y="0"/>
                </a:moveTo>
                <a:lnTo>
                  <a:pt x="0" y="0"/>
                </a:lnTo>
                <a:lnTo>
                  <a:pt x="0" y="1170000"/>
                </a:lnTo>
                <a:lnTo>
                  <a:pt x="2387727" y="1170000"/>
                </a:lnTo>
                <a:lnTo>
                  <a:pt x="2387727" y="0"/>
                </a:lnTo>
                <a:close/>
              </a:path>
            </a:pathLst>
          </a:custGeom>
          <a:blipFill>
            <a:blip r:embed="rId3">
              <a:alphaModFix amt="60000"/>
            </a:blip>
            <a:stretch>
              <a:fillRect r="-48486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7" name="Group 17"/>
          <p:cNvGrpSpPr/>
          <p:nvPr/>
        </p:nvGrpSpPr>
        <p:grpSpPr>
          <a:xfrm>
            <a:off x="1855845" y="2955000"/>
            <a:ext cx="5676082" cy="1216650"/>
            <a:chOff x="0" y="0"/>
            <a:chExt cx="2784467" cy="596841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2784467" cy="596841"/>
            </a:xfrm>
            <a:custGeom>
              <a:avLst/>
              <a:gdLst/>
              <a:ahLst/>
              <a:cxnLst/>
              <a:rect l="l" t="t" r="r" b="b"/>
              <a:pathLst>
                <a:path w="2784467" h="596841">
                  <a:moveTo>
                    <a:pt x="70248" y="0"/>
                  </a:moveTo>
                  <a:lnTo>
                    <a:pt x="2714218" y="0"/>
                  </a:lnTo>
                  <a:cubicBezTo>
                    <a:pt x="2732849" y="0"/>
                    <a:pt x="2750717" y="7401"/>
                    <a:pt x="2763891" y="20575"/>
                  </a:cubicBezTo>
                  <a:cubicBezTo>
                    <a:pt x="2777066" y="33749"/>
                    <a:pt x="2784467" y="51617"/>
                    <a:pt x="2784467" y="70248"/>
                  </a:cubicBezTo>
                  <a:lnTo>
                    <a:pt x="2784467" y="526593"/>
                  </a:lnTo>
                  <a:cubicBezTo>
                    <a:pt x="2784467" y="545224"/>
                    <a:pt x="2777066" y="563092"/>
                    <a:pt x="2763891" y="576266"/>
                  </a:cubicBezTo>
                  <a:cubicBezTo>
                    <a:pt x="2750717" y="589440"/>
                    <a:pt x="2732849" y="596841"/>
                    <a:pt x="2714218" y="596841"/>
                  </a:cubicBezTo>
                  <a:lnTo>
                    <a:pt x="70248" y="596841"/>
                  </a:lnTo>
                  <a:cubicBezTo>
                    <a:pt x="51617" y="596841"/>
                    <a:pt x="33749" y="589440"/>
                    <a:pt x="20575" y="576266"/>
                  </a:cubicBezTo>
                  <a:cubicBezTo>
                    <a:pt x="7401" y="563092"/>
                    <a:pt x="0" y="545224"/>
                    <a:pt x="0" y="526593"/>
                  </a:cubicBezTo>
                  <a:lnTo>
                    <a:pt x="0" y="70248"/>
                  </a:lnTo>
                  <a:cubicBezTo>
                    <a:pt x="0" y="51617"/>
                    <a:pt x="7401" y="33749"/>
                    <a:pt x="20575" y="20575"/>
                  </a:cubicBezTo>
                  <a:cubicBezTo>
                    <a:pt x="33749" y="7401"/>
                    <a:pt x="51617" y="0"/>
                    <a:pt x="70248" y="0"/>
                  </a:cubicBezTo>
                  <a:close/>
                </a:path>
              </a:pathLst>
            </a:custGeom>
            <a:solidFill>
              <a:srgbClr val="FFFFFF">
                <a:alpha val="89804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19050"/>
              <a:ext cx="2784467" cy="615891"/>
            </a:xfrm>
            <a:prstGeom prst="rect">
              <a:avLst/>
            </a:prstGeom>
          </p:spPr>
          <p:txBody>
            <a:bodyPr lIns="26241" tIns="26241" rIns="26241" bIns="26241" rtlCol="0" anchor="ctr"/>
            <a:lstStyle/>
            <a:p>
              <a:pPr algn="ctr">
                <a:lnSpc>
                  <a:spcPts val="1446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8602" y="4228800"/>
            <a:ext cx="5500205" cy="1606200"/>
            <a:chOff x="0" y="0"/>
            <a:chExt cx="2698188" cy="78794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2698188" cy="787940"/>
            </a:xfrm>
            <a:custGeom>
              <a:avLst/>
              <a:gdLst/>
              <a:ahLst/>
              <a:cxnLst/>
              <a:rect l="l" t="t" r="r" b="b"/>
              <a:pathLst>
                <a:path w="2698188" h="787940">
                  <a:moveTo>
                    <a:pt x="72495" y="0"/>
                  </a:moveTo>
                  <a:lnTo>
                    <a:pt x="2625694" y="0"/>
                  </a:lnTo>
                  <a:cubicBezTo>
                    <a:pt x="2644921" y="0"/>
                    <a:pt x="2663360" y="7638"/>
                    <a:pt x="2676955" y="21233"/>
                  </a:cubicBezTo>
                  <a:cubicBezTo>
                    <a:pt x="2690551" y="34829"/>
                    <a:pt x="2698188" y="53268"/>
                    <a:pt x="2698188" y="72495"/>
                  </a:cubicBezTo>
                  <a:lnTo>
                    <a:pt x="2698188" y="715445"/>
                  </a:lnTo>
                  <a:cubicBezTo>
                    <a:pt x="2698188" y="734672"/>
                    <a:pt x="2690551" y="753111"/>
                    <a:pt x="2676955" y="766706"/>
                  </a:cubicBezTo>
                  <a:cubicBezTo>
                    <a:pt x="2663360" y="780302"/>
                    <a:pt x="2644921" y="787940"/>
                    <a:pt x="2625694" y="787940"/>
                  </a:cubicBezTo>
                  <a:lnTo>
                    <a:pt x="72495" y="787940"/>
                  </a:lnTo>
                  <a:cubicBezTo>
                    <a:pt x="32457" y="787940"/>
                    <a:pt x="0" y="755483"/>
                    <a:pt x="0" y="715445"/>
                  </a:cubicBezTo>
                  <a:lnTo>
                    <a:pt x="0" y="72495"/>
                  </a:lnTo>
                  <a:cubicBezTo>
                    <a:pt x="0" y="32457"/>
                    <a:pt x="32457" y="0"/>
                    <a:pt x="72495" y="0"/>
                  </a:cubicBezTo>
                  <a:close/>
                </a:path>
              </a:pathLst>
            </a:custGeom>
            <a:solidFill>
              <a:srgbClr val="FFFFFF">
                <a:alpha val="89804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19050"/>
              <a:ext cx="2698188" cy="806990"/>
            </a:xfrm>
            <a:prstGeom prst="rect">
              <a:avLst/>
            </a:prstGeom>
          </p:spPr>
          <p:txBody>
            <a:bodyPr lIns="26241" tIns="26241" rIns="26241" bIns="26241" rtlCol="0" anchor="ctr"/>
            <a:lstStyle/>
            <a:p>
              <a:pPr algn="just">
                <a:lnSpc>
                  <a:spcPts val="886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305809" y="6015000"/>
            <a:ext cx="5908382" cy="1350000"/>
            <a:chOff x="0" y="0"/>
            <a:chExt cx="2898424" cy="662258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2898424" cy="662258"/>
            </a:xfrm>
            <a:custGeom>
              <a:avLst/>
              <a:gdLst/>
              <a:ahLst/>
              <a:cxnLst/>
              <a:rect l="l" t="t" r="r" b="b"/>
              <a:pathLst>
                <a:path w="2898424" h="662258">
                  <a:moveTo>
                    <a:pt x="67486" y="0"/>
                  </a:moveTo>
                  <a:lnTo>
                    <a:pt x="2830938" y="0"/>
                  </a:lnTo>
                  <a:cubicBezTo>
                    <a:pt x="2868209" y="0"/>
                    <a:pt x="2898424" y="30215"/>
                    <a:pt x="2898424" y="67486"/>
                  </a:cubicBezTo>
                  <a:lnTo>
                    <a:pt x="2898424" y="594771"/>
                  </a:lnTo>
                  <a:cubicBezTo>
                    <a:pt x="2898424" y="612670"/>
                    <a:pt x="2891314" y="629835"/>
                    <a:pt x="2878658" y="642492"/>
                  </a:cubicBezTo>
                  <a:cubicBezTo>
                    <a:pt x="2866002" y="655148"/>
                    <a:pt x="2848836" y="662258"/>
                    <a:pt x="2830938" y="662258"/>
                  </a:cubicBezTo>
                  <a:lnTo>
                    <a:pt x="67486" y="662258"/>
                  </a:lnTo>
                  <a:cubicBezTo>
                    <a:pt x="49588" y="662258"/>
                    <a:pt x="32422" y="655148"/>
                    <a:pt x="19766" y="642492"/>
                  </a:cubicBezTo>
                  <a:cubicBezTo>
                    <a:pt x="7110" y="629835"/>
                    <a:pt x="0" y="612670"/>
                    <a:pt x="0" y="594771"/>
                  </a:cubicBezTo>
                  <a:lnTo>
                    <a:pt x="0" y="67486"/>
                  </a:lnTo>
                  <a:cubicBezTo>
                    <a:pt x="0" y="49588"/>
                    <a:pt x="7110" y="32422"/>
                    <a:pt x="19766" y="19766"/>
                  </a:cubicBezTo>
                  <a:cubicBezTo>
                    <a:pt x="32422" y="7110"/>
                    <a:pt x="49588" y="0"/>
                    <a:pt x="67486" y="0"/>
                  </a:cubicBezTo>
                  <a:close/>
                </a:path>
              </a:pathLst>
            </a:custGeom>
            <a:solidFill>
              <a:srgbClr val="FFFFFF">
                <a:alpha val="89804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19050"/>
              <a:ext cx="2898424" cy="681308"/>
            </a:xfrm>
            <a:prstGeom prst="rect">
              <a:avLst/>
            </a:prstGeom>
          </p:spPr>
          <p:txBody>
            <a:bodyPr lIns="26241" tIns="26241" rIns="26241" bIns="26241" rtlCol="0" anchor="ctr"/>
            <a:lstStyle/>
            <a:p>
              <a:pPr algn="ctr">
                <a:lnSpc>
                  <a:spcPts val="1446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6" name="Freeform 26"/>
          <p:cNvSpPr/>
          <p:nvPr/>
        </p:nvSpPr>
        <p:spPr>
          <a:xfrm>
            <a:off x="442417" y="1299326"/>
            <a:ext cx="1558563" cy="360484"/>
          </a:xfrm>
          <a:custGeom>
            <a:avLst/>
            <a:gdLst/>
            <a:ahLst/>
            <a:cxnLst/>
            <a:rect l="l" t="t" r="r" b="b"/>
            <a:pathLst>
              <a:path w="1558563" h="360484">
                <a:moveTo>
                  <a:pt x="0" y="0"/>
                </a:moveTo>
                <a:lnTo>
                  <a:pt x="1558563" y="0"/>
                </a:lnTo>
                <a:lnTo>
                  <a:pt x="1558563" y="360484"/>
                </a:lnTo>
                <a:lnTo>
                  <a:pt x="0" y="3604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7" name="Freeform 27"/>
          <p:cNvSpPr/>
          <p:nvPr/>
        </p:nvSpPr>
        <p:spPr>
          <a:xfrm>
            <a:off x="5154741" y="1575803"/>
            <a:ext cx="1840470" cy="1048394"/>
          </a:xfrm>
          <a:custGeom>
            <a:avLst/>
            <a:gdLst/>
            <a:ahLst/>
            <a:cxnLst/>
            <a:rect l="l" t="t" r="r" b="b"/>
            <a:pathLst>
              <a:path w="1840470" h="1048394">
                <a:moveTo>
                  <a:pt x="0" y="0"/>
                </a:moveTo>
                <a:lnTo>
                  <a:pt x="1840470" y="0"/>
                </a:lnTo>
                <a:lnTo>
                  <a:pt x="1840470" y="1048394"/>
                </a:lnTo>
                <a:lnTo>
                  <a:pt x="0" y="104839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1115" b="-1115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8" name="Freeform 28"/>
          <p:cNvSpPr/>
          <p:nvPr/>
        </p:nvSpPr>
        <p:spPr>
          <a:xfrm>
            <a:off x="310656" y="1707435"/>
            <a:ext cx="1822084" cy="877065"/>
          </a:xfrm>
          <a:custGeom>
            <a:avLst/>
            <a:gdLst/>
            <a:ahLst/>
            <a:cxnLst/>
            <a:rect l="l" t="t" r="r" b="b"/>
            <a:pathLst>
              <a:path w="1822084" h="877065">
                <a:moveTo>
                  <a:pt x="0" y="0"/>
                </a:moveTo>
                <a:lnTo>
                  <a:pt x="1822084" y="0"/>
                </a:lnTo>
                <a:lnTo>
                  <a:pt x="1822084" y="877065"/>
                </a:lnTo>
                <a:lnTo>
                  <a:pt x="0" y="87706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t="-413" b="-569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9" name="Freeform 29"/>
          <p:cNvSpPr/>
          <p:nvPr/>
        </p:nvSpPr>
        <p:spPr>
          <a:xfrm>
            <a:off x="0" y="2988467"/>
            <a:ext cx="1855845" cy="1158261"/>
          </a:xfrm>
          <a:custGeom>
            <a:avLst/>
            <a:gdLst/>
            <a:ahLst/>
            <a:cxnLst/>
            <a:rect l="l" t="t" r="r" b="b"/>
            <a:pathLst>
              <a:path w="1855845" h="1158261">
                <a:moveTo>
                  <a:pt x="0" y="0"/>
                </a:moveTo>
                <a:lnTo>
                  <a:pt x="1855845" y="0"/>
                </a:lnTo>
                <a:lnTo>
                  <a:pt x="1855845" y="1158261"/>
                </a:lnTo>
                <a:lnTo>
                  <a:pt x="0" y="115826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r="-699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0" name="Freeform 30"/>
          <p:cNvSpPr/>
          <p:nvPr/>
        </p:nvSpPr>
        <p:spPr>
          <a:xfrm>
            <a:off x="5632519" y="4617704"/>
            <a:ext cx="1899407" cy="828391"/>
          </a:xfrm>
          <a:custGeom>
            <a:avLst/>
            <a:gdLst/>
            <a:ahLst/>
            <a:cxnLst/>
            <a:rect l="l" t="t" r="r" b="b"/>
            <a:pathLst>
              <a:path w="1899407" h="828391">
                <a:moveTo>
                  <a:pt x="0" y="0"/>
                </a:moveTo>
                <a:lnTo>
                  <a:pt x="1899408" y="0"/>
                </a:lnTo>
                <a:lnTo>
                  <a:pt x="1899408" y="828392"/>
                </a:lnTo>
                <a:lnTo>
                  <a:pt x="0" y="82839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1" name="TextBox 31"/>
          <p:cNvSpPr txBox="1"/>
          <p:nvPr/>
        </p:nvSpPr>
        <p:spPr>
          <a:xfrm>
            <a:off x="1679562" y="6227725"/>
            <a:ext cx="5101733" cy="10926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6360" lvl="1" indent="-43180" algn="just">
              <a:lnSpc>
                <a:spcPts val="559"/>
              </a:lnSpc>
              <a:buFont typeface="Arial"/>
              <a:buChar char="•"/>
            </a:pPr>
            <a:r>
              <a:rPr lang="en-US" sz="3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Adesina, A.A., Iyelolu, T.V. and Paul, P.O., (2024). Leveraging predictive analytics for strategic decision-making: Enhancing business performance through data-driven insights. World Journal of Advanced Research and Reviews, 22(3), pp.1927-1934. </a:t>
            </a:r>
            <a:r>
              <a:rPr lang="en-US" sz="399" u="sng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9" tooltip="https://pdfs.semanticscholar.org/b76b/ff29715b465db49a3f2f8b30222f2bea02a8.pdf"/>
              </a:rPr>
              <a:t>https://pdfs.semanticscholar.org/b76b/ff29715b465db49a3f2f8b30222f2bea02a8.pdf</a:t>
            </a:r>
            <a:r>
              <a:rPr lang="en-US" sz="3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</a:p>
          <a:p>
            <a:pPr marL="86360" lvl="1" indent="-43180" algn="just">
              <a:lnSpc>
                <a:spcPts val="559"/>
              </a:lnSpc>
              <a:buFont typeface="Arial"/>
              <a:buChar char="•"/>
            </a:pPr>
            <a:r>
              <a:rPr lang="en-US" sz="3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Akinsola, O.K., Taofeek, A. and Kingsley Onu, D.Y.O., (2025). Legal Challenges and Best Practices for Structuring Corporate Partnerships, Joint Ventures, and Strategic Alliances. </a:t>
            </a:r>
            <a:r>
              <a:rPr lang="en-US" sz="399" u="sng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10" tooltip="https://www.researchgate.net/profile/Bryan-Collins-4/publication/388653168_Legal_Challenges_and_Best_Practices_for_Structuring_Corporate_Partnerships_Joint_Ventures_and_Strategic_Alliances/links/67a1196596e7fb48b9b11d4b/Legal-Challenges-and-Best-Practices-for-Structuring-Corporate-Partnerships-Joint-Ventures-and-Strategic-Alliances.pdf"/>
              </a:rPr>
              <a:t>https://www.researchgate.net/profile/Bryan-Collins-4/publication/388653168_Legal_Challenges_and_Best_Practices_for_Structuring_Corporate_Partnerships_Joint_Ventures_and_Strategic_Alliances/links/67a1196596e7fb48b9b11d4b/Legal-Challenges-and-Best-Practices-for-Structuring-Corporate-Partnerships-Joint-Ventures-and-Strategic-Alliances.pdf</a:t>
            </a:r>
            <a:r>
              <a:rPr lang="en-US" sz="3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</a:p>
          <a:p>
            <a:pPr marL="86360" lvl="1" indent="-43180" algn="just">
              <a:lnSpc>
                <a:spcPts val="559"/>
              </a:lnSpc>
              <a:buFont typeface="Arial"/>
              <a:buChar char="•"/>
            </a:pPr>
            <a:r>
              <a:rPr lang="en-US" sz="3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Causer, H., Spiers, J. and Riley, R., (2024). A method for synthesizing qualitative data sources in the co-production of postvention guidelines for the NHS: a worked example. International Journal of Qualitative Methods, 23, p.16094069241229985. </a:t>
            </a:r>
            <a:r>
              <a:rPr lang="en-US" sz="399" u="sng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11" tooltip="https://journals.sagepub.com/doi/abs/10.1177/16094069241229985"/>
              </a:rPr>
              <a:t>https://journals.sagepub.com/doi/abs/10.1177/16094069241229985</a:t>
            </a:r>
            <a:r>
              <a:rPr lang="en-US" sz="3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</a:p>
          <a:p>
            <a:pPr marL="86360" lvl="1" indent="-43180" algn="just">
              <a:lnSpc>
                <a:spcPts val="559"/>
              </a:lnSpc>
              <a:buFont typeface="Arial"/>
              <a:buChar char="•"/>
            </a:pPr>
            <a:r>
              <a:rPr lang="en-US" sz="3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Fujimori, S., Wu, W., Doelman, J., Frank, S., Hristov, J., Kyle, P., Sands, R., Van Zeist, W.J., Havlik, P., Domínguez, I.P. and Sahoo, A., (2022). Land-based climate change mitigation measures can affect agricultural markets and food security. Nature Food, 3(2), pp.110-121. </a:t>
            </a:r>
            <a:r>
              <a:rPr lang="en-US" sz="399" u="sng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12" tooltip="https://www.nature.com/articles/s43016-022-00464-4"/>
              </a:rPr>
              <a:t>https://www.nature.com/articles/s43016-022-00464-4</a:t>
            </a:r>
            <a:r>
              <a:rPr lang="en-US" sz="3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</a:p>
          <a:p>
            <a:pPr marL="86360" lvl="1" indent="-43180" algn="just">
              <a:lnSpc>
                <a:spcPts val="559"/>
              </a:lnSpc>
              <a:buFont typeface="Arial"/>
              <a:buChar char="•"/>
            </a:pPr>
            <a:r>
              <a:rPr lang="en-US" sz="3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Guercini, S. and Milanesi, M., (2022). Foreign market entry decision-making and heuristics: a mapping of the literature and future avenues. Management Research Review, 45(9), pp.1229-1246. </a:t>
            </a:r>
            <a:r>
              <a:rPr lang="en-US" sz="399" u="sng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13" tooltip="https://www.emerald.com/mrr/article/45/9/1229/305647"/>
              </a:rPr>
              <a:t>https://www.emerald.com/mrr/article/45/9/1229/305647</a:t>
            </a:r>
            <a:r>
              <a:rPr lang="en-US" sz="3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</a:p>
          <a:p>
            <a:pPr marL="86360" lvl="1" indent="-43180" algn="just">
              <a:lnSpc>
                <a:spcPts val="559"/>
              </a:lnSpc>
              <a:buFont typeface="Arial"/>
              <a:buChar char="•"/>
            </a:pPr>
            <a:r>
              <a:rPr lang="en-US" sz="3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Hasan, M.M., Rayhan, Z., Mukta, R.T. and Faruq, O., (2024). Research on adapting marketing techniques to different culture economics and regulatory environment to entering new international markets. Информатика. Экономика. Управление/Informatics. Economics. Management, 3(4), pp.0257-0277. </a:t>
            </a:r>
            <a:r>
              <a:rPr lang="en-US" sz="399" u="sng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14" tooltip="https://cyberleninka.ru/article/n/research-on-adapting-marketing-techniques-to-different-culture-economics-and-regulatory-environment-to-entering-new-international"/>
              </a:rPr>
              <a:t>https://cyberleninka.ru/article/n/research-on-adapting-marketing-techniques-to-different-culture-economics-and-regulatory-environment-to-entering-new-international</a:t>
            </a:r>
            <a:r>
              <a:rPr lang="en-US" sz="3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</a:p>
          <a:p>
            <a:pPr marL="86360" lvl="1" indent="-43180" algn="just">
              <a:lnSpc>
                <a:spcPts val="559"/>
              </a:lnSpc>
              <a:buFont typeface="Arial"/>
              <a:buChar char="•"/>
            </a:pPr>
            <a:r>
              <a:rPr lang="en-US" sz="3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Zámborský, P., Sullivan-Taylor, B., Tisch, D. and Branicki, L., (2022). Antecedents of risk and uncertainty management capabilities: Insights from multinational enterprises in New Zealand. Journal of Management &amp; Organization, 28(3), pp.632-658. </a:t>
            </a:r>
            <a:r>
              <a:rPr lang="en-US" sz="399" u="sng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15" tooltip="https://www.cambridge.org/core/journals/journal-of-management-and-organization/article/antecedents-of-risk-and-uncertainty-management-capabilities-insights-from-multinational-enterprises-in-new-zealand/3099A5E049024F0CECB20DDFA397B916"/>
              </a:rPr>
              <a:t>https://www.cambridge.org/core/journals/journal-of-management-and-organization/article/antecedents-of-risk-and-uncertainty-management-capabilities-insights-from-multinational-enterprises-in-new-zealand/3099A5E049024F0CECB20DDFA397B916</a:t>
            </a:r>
            <a:r>
              <a:rPr lang="en-US" sz="3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488811" y="6033656"/>
            <a:ext cx="5369189" cy="174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99"/>
              </a:lnSpc>
            </a:pPr>
            <a:r>
              <a:rPr lang="en-US" sz="999" b="1">
                <a:solidFill>
                  <a:srgbClr val="1300B3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REFERENCES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855845" y="1422469"/>
            <a:ext cx="2374584" cy="2854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48"/>
              </a:lnSpc>
            </a:pPr>
            <a:r>
              <a:rPr lang="en-US" sz="820" b="1">
                <a:solidFill>
                  <a:srgbClr val="1300B3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RESEARCH FOCUS</a:t>
            </a:r>
          </a:p>
          <a:p>
            <a:pPr algn="ctr">
              <a:lnSpc>
                <a:spcPts val="1148"/>
              </a:lnSpc>
            </a:pPr>
            <a:endParaRPr lang="en-US" sz="820" b="1">
              <a:solidFill>
                <a:srgbClr val="1300B3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sp>
        <p:nvSpPr>
          <p:cNvPr id="34" name="TextBox 34"/>
          <p:cNvSpPr txBox="1"/>
          <p:nvPr/>
        </p:nvSpPr>
        <p:spPr>
          <a:xfrm>
            <a:off x="2306061" y="1602711"/>
            <a:ext cx="2671391" cy="388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012"/>
              </a:lnSpc>
            </a:pPr>
            <a:r>
              <a:rPr lang="en-US" sz="72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How do organisations approach international market entry in the global economy?</a:t>
            </a:r>
          </a:p>
          <a:p>
            <a:pPr algn="just">
              <a:lnSpc>
                <a:spcPts val="1012"/>
              </a:lnSpc>
            </a:pPr>
            <a:endParaRPr lang="en-US" sz="723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" name="TextBox 35"/>
          <p:cNvSpPr txBox="1"/>
          <p:nvPr/>
        </p:nvSpPr>
        <p:spPr>
          <a:xfrm>
            <a:off x="2096604" y="3179360"/>
            <a:ext cx="2310887" cy="8736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73510" lvl="1" indent="-86755" algn="just">
              <a:lnSpc>
                <a:spcPts val="1800"/>
              </a:lnSpc>
              <a:buFont typeface="Arial"/>
              <a:buChar char="•"/>
            </a:pPr>
            <a:r>
              <a:rPr lang="en-US" sz="80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OECD internationalisation reports </a:t>
            </a:r>
          </a:p>
          <a:p>
            <a:pPr marL="173510" lvl="1" indent="-86755" algn="just">
              <a:lnSpc>
                <a:spcPts val="1800"/>
              </a:lnSpc>
              <a:buFont typeface="Arial"/>
              <a:buChar char="•"/>
            </a:pPr>
            <a:r>
              <a:rPr lang="en-US" sz="80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UNCTAD case studies</a:t>
            </a:r>
          </a:p>
          <a:p>
            <a:pPr marL="173510" lvl="1" indent="-86755" algn="just">
              <a:lnSpc>
                <a:spcPts val="1800"/>
              </a:lnSpc>
              <a:buFont typeface="Arial"/>
              <a:buChar char="•"/>
            </a:pPr>
            <a:r>
              <a:rPr lang="en-US" sz="80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World Bank Trade and Investment Reports</a:t>
            </a:r>
          </a:p>
          <a:p>
            <a:pPr marL="173510" lvl="1" indent="-86755" algn="just">
              <a:lnSpc>
                <a:spcPts val="1800"/>
              </a:lnSpc>
              <a:buFont typeface="Arial"/>
              <a:buChar char="•"/>
            </a:pPr>
            <a:r>
              <a:rPr lang="en-US" sz="80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Peer-reviewed journals studies (Causer </a:t>
            </a:r>
            <a:r>
              <a:rPr lang="en-US" sz="803" i="1">
                <a:solidFill>
                  <a:srgbClr val="000000"/>
                </a:solidFill>
                <a:latin typeface="Times New Roman Italics"/>
                <a:ea typeface="Times New Roman Italics"/>
                <a:cs typeface="Times New Roman Italics"/>
                <a:sym typeface="Times New Roman Italics"/>
              </a:rPr>
              <a:t>et al.</a:t>
            </a:r>
            <a:r>
              <a:rPr lang="en-US" sz="80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2024)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5185909" y="2959892"/>
            <a:ext cx="1809302" cy="146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48"/>
              </a:lnSpc>
            </a:pPr>
            <a:r>
              <a:rPr lang="en-US" sz="820" b="1">
                <a:solidFill>
                  <a:srgbClr val="1300B3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KEY FINDINGS (THEME)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4407491" y="3106425"/>
            <a:ext cx="3037163" cy="1198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84482" lvl="1" indent="-92241" algn="l">
              <a:lnSpc>
                <a:spcPts val="1196"/>
              </a:lnSpc>
              <a:buFont typeface="Arial"/>
              <a:buChar char="•"/>
            </a:pPr>
            <a:r>
              <a:rPr lang="en-US" sz="85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Global economic conditions influence entry strategy selection</a:t>
            </a:r>
          </a:p>
          <a:p>
            <a:pPr marL="184482" lvl="1" indent="-92241" algn="l">
              <a:lnSpc>
                <a:spcPts val="1196"/>
              </a:lnSpc>
              <a:buFont typeface="Arial"/>
              <a:buChar char="•"/>
            </a:pPr>
            <a:r>
              <a:rPr lang="en-US" sz="85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Organisational prefer low-risk entry modes under economic uncertainties (Zámborský </a:t>
            </a:r>
            <a:r>
              <a:rPr lang="en-US" sz="854" i="1">
                <a:solidFill>
                  <a:srgbClr val="000000"/>
                </a:solidFill>
                <a:latin typeface="Times New Roman Italics"/>
                <a:ea typeface="Times New Roman Italics"/>
                <a:cs typeface="Times New Roman Italics"/>
                <a:sym typeface="Times New Roman Italics"/>
              </a:rPr>
              <a:t>et al., </a:t>
            </a:r>
            <a:r>
              <a:rPr lang="en-US" sz="85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2022)</a:t>
            </a:r>
          </a:p>
          <a:p>
            <a:pPr marL="184482" lvl="1" indent="-92241" algn="l">
              <a:lnSpc>
                <a:spcPts val="1196"/>
              </a:lnSpc>
              <a:buFont typeface="Arial"/>
              <a:buChar char="•"/>
            </a:pPr>
            <a:r>
              <a:rPr lang="en-US" sz="85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Organisational capabilities and resources shapes market entry decisions</a:t>
            </a:r>
          </a:p>
          <a:p>
            <a:pPr marL="184482" lvl="1" indent="-92241" algn="l">
              <a:lnSpc>
                <a:spcPts val="1196"/>
              </a:lnSpc>
              <a:buFont typeface="Arial"/>
              <a:buChar char="•"/>
            </a:pPr>
            <a:r>
              <a:rPr lang="en-US" sz="85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Regulatory and institutional environments affect strategy choices (Adesina </a:t>
            </a:r>
            <a:r>
              <a:rPr lang="en-US" sz="854" i="1">
                <a:solidFill>
                  <a:srgbClr val="000000"/>
                </a:solidFill>
                <a:latin typeface="Times New Roman Italics"/>
                <a:ea typeface="Times New Roman Italics"/>
                <a:cs typeface="Times New Roman Italics"/>
                <a:sym typeface="Times New Roman Italics"/>
              </a:rPr>
              <a:t>et al., </a:t>
            </a:r>
            <a:r>
              <a:rPr lang="en-US" sz="85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2024)</a:t>
            </a:r>
          </a:p>
          <a:p>
            <a:pPr algn="l">
              <a:lnSpc>
                <a:spcPts val="1196"/>
              </a:lnSpc>
            </a:pPr>
            <a:endParaRPr lang="en-US" sz="854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" name="TextBox 38"/>
          <p:cNvSpPr txBox="1"/>
          <p:nvPr/>
        </p:nvSpPr>
        <p:spPr>
          <a:xfrm>
            <a:off x="2211766" y="2959892"/>
            <a:ext cx="2220887" cy="2861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51"/>
              </a:lnSpc>
            </a:pPr>
            <a:r>
              <a:rPr lang="en-US" sz="822" b="1">
                <a:solidFill>
                  <a:srgbClr val="1300B3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SECONDARY DATA SOURCES USED FOR DATA ANALYSIS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931195" y="865950"/>
            <a:ext cx="5926805" cy="289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48"/>
              </a:lnSpc>
            </a:pPr>
            <a:r>
              <a:rPr lang="en-US" sz="534" b="1">
                <a:solidFill>
                  <a:srgbClr val="E6E5E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STUDENT NAME: RAMA KOTESWARA RAO MANGINENI</a:t>
            </a:r>
          </a:p>
          <a:p>
            <a:pPr algn="ctr">
              <a:lnSpc>
                <a:spcPts val="748"/>
              </a:lnSpc>
            </a:pPr>
            <a:r>
              <a:rPr lang="en-US" sz="534" b="1">
                <a:solidFill>
                  <a:srgbClr val="E6E5E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STUDENT ID: S24013995</a:t>
            </a:r>
          </a:p>
          <a:p>
            <a:pPr algn="ctr">
              <a:lnSpc>
                <a:spcPts val="748"/>
              </a:lnSpc>
            </a:pPr>
            <a:endParaRPr lang="en-US" sz="534" b="1">
              <a:solidFill>
                <a:srgbClr val="E6E5EF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sp>
        <p:nvSpPr>
          <p:cNvPr id="40" name="TextBox 40"/>
          <p:cNvSpPr txBox="1"/>
          <p:nvPr/>
        </p:nvSpPr>
        <p:spPr>
          <a:xfrm>
            <a:off x="931195" y="36900"/>
            <a:ext cx="5926805" cy="9621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67"/>
              </a:lnSpc>
            </a:pPr>
            <a:r>
              <a:rPr lang="en-US" sz="1119" b="1">
                <a:solidFill>
                  <a:srgbClr val="E6E5E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BUS7C4 SUPERVISION SESSION</a:t>
            </a:r>
          </a:p>
          <a:p>
            <a:pPr algn="ctr">
              <a:lnSpc>
                <a:spcPts val="1567"/>
              </a:lnSpc>
            </a:pPr>
            <a:r>
              <a:rPr lang="en-US" sz="1119" b="1">
                <a:solidFill>
                  <a:srgbClr val="E6E5E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LECTURE RESULTS/FINDINGS, ANALYSIS AND DISCUSSION </a:t>
            </a:r>
          </a:p>
          <a:p>
            <a:pPr algn="ctr">
              <a:lnSpc>
                <a:spcPts val="1567"/>
              </a:lnSpc>
            </a:pPr>
            <a:r>
              <a:rPr lang="en-US" sz="1119" b="1">
                <a:solidFill>
                  <a:srgbClr val="E6E5E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EXPLORING ORGANISATIONAL APPROACHES TO INTERNATIONAL MARKET ENTRY UNDER THE GLOBAL ECONOMY </a:t>
            </a:r>
          </a:p>
          <a:p>
            <a:pPr algn="ctr">
              <a:lnSpc>
                <a:spcPts val="1567"/>
              </a:lnSpc>
            </a:pPr>
            <a:endParaRPr lang="en-US" sz="1119" b="1">
              <a:solidFill>
                <a:srgbClr val="E6E5EF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sp>
        <p:nvSpPr>
          <p:cNvPr id="41" name="TextBox 41"/>
          <p:cNvSpPr txBox="1"/>
          <p:nvPr/>
        </p:nvSpPr>
        <p:spPr>
          <a:xfrm>
            <a:off x="2306061" y="1912125"/>
            <a:ext cx="2790104" cy="4440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51"/>
              </a:lnSpc>
            </a:pPr>
            <a:r>
              <a:rPr lang="en-US" sz="822" b="1">
                <a:solidFill>
                  <a:srgbClr val="1300B3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USE OF NVIVO FOR SECONDARY QUALITATIVE DATA ANALYSIS</a:t>
            </a:r>
          </a:p>
          <a:p>
            <a:pPr algn="ctr">
              <a:lnSpc>
                <a:spcPts val="1151"/>
              </a:lnSpc>
            </a:pPr>
            <a:endParaRPr lang="en-US" sz="822" b="1">
              <a:solidFill>
                <a:srgbClr val="1300B3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sp>
        <p:nvSpPr>
          <p:cNvPr id="42" name="TextBox 42"/>
          <p:cNvSpPr txBox="1"/>
          <p:nvPr/>
        </p:nvSpPr>
        <p:spPr>
          <a:xfrm>
            <a:off x="2306061" y="2356996"/>
            <a:ext cx="2743480" cy="388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012"/>
              </a:lnSpc>
            </a:pPr>
            <a:r>
              <a:rPr lang="en-US" sz="72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Secondary qualitative data analysed through NVivo 15with inductive thematic coding</a:t>
            </a:r>
          </a:p>
          <a:p>
            <a:pPr algn="just">
              <a:lnSpc>
                <a:spcPts val="1012"/>
              </a:lnSpc>
            </a:pPr>
            <a:endParaRPr lang="en-US" sz="723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" name="TextBox 43"/>
          <p:cNvSpPr txBox="1"/>
          <p:nvPr/>
        </p:nvSpPr>
        <p:spPr>
          <a:xfrm>
            <a:off x="465592" y="4248399"/>
            <a:ext cx="4784408" cy="1466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48"/>
              </a:lnSpc>
              <a:spcBef>
                <a:spcPct val="0"/>
              </a:spcBef>
            </a:pPr>
            <a:r>
              <a:rPr lang="en-US" sz="820" b="1">
                <a:solidFill>
                  <a:srgbClr val="1300B3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ANALYSIS AND DISCUSSION 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82178" y="4409419"/>
            <a:ext cx="5416629" cy="14616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68402" lvl="1" indent="-84201" algn="l">
              <a:lnSpc>
                <a:spcPts val="1092"/>
              </a:lnSpc>
              <a:buFont typeface="Arial"/>
              <a:buChar char="•"/>
            </a:pPr>
            <a:r>
              <a:rPr lang="en-US" sz="78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·Organisations adjust international market entry strategies in response to different level of global economic stability (Hasan et al., 2024)</a:t>
            </a:r>
          </a:p>
          <a:p>
            <a:pPr marL="168402" lvl="1" indent="-84201" algn="l">
              <a:lnSpc>
                <a:spcPts val="1092"/>
              </a:lnSpc>
              <a:buFont typeface="Arial"/>
              <a:buChar char="•"/>
            </a:pPr>
            <a:r>
              <a:rPr lang="en-US" sz="78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·These are through prioritising risk mitigation throughout uncertain environments</a:t>
            </a:r>
          </a:p>
          <a:p>
            <a:pPr marL="168402" lvl="1" indent="-84201" algn="l">
              <a:lnSpc>
                <a:spcPts val="1092"/>
              </a:lnSpc>
              <a:buFont typeface="Arial"/>
              <a:buChar char="•"/>
            </a:pPr>
            <a:r>
              <a:rPr lang="en-US" sz="78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·Strategic flexibility emerges as a critical capability with enabling firms to make investment commitments and modify entry modes </a:t>
            </a:r>
          </a:p>
          <a:p>
            <a:pPr marL="168402" lvl="1" indent="-84201" algn="l">
              <a:lnSpc>
                <a:spcPts val="1092"/>
              </a:lnSpc>
              <a:buFont typeface="Arial"/>
              <a:buChar char="•"/>
            </a:pPr>
            <a:r>
              <a:rPr lang="en-US" sz="78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·These are in accordance to changing economic conditions and market conditions (Fujimori et al., 2022)</a:t>
            </a:r>
          </a:p>
          <a:p>
            <a:pPr marL="168402" lvl="1" indent="-84201" algn="l">
              <a:lnSpc>
                <a:spcPts val="1092"/>
              </a:lnSpc>
              <a:buFont typeface="Arial"/>
              <a:buChar char="•"/>
            </a:pPr>
            <a:r>
              <a:rPr lang="en-US" sz="78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·Regulatory and institutional pressure within host countries encourage organisations in adopting collaborative entry approaches</a:t>
            </a:r>
          </a:p>
          <a:p>
            <a:pPr marL="168402" lvl="1" indent="-84201" algn="l">
              <a:lnSpc>
                <a:spcPts val="1092"/>
              </a:lnSpc>
              <a:buFont typeface="Arial"/>
              <a:buChar char="•"/>
            </a:pPr>
            <a:r>
              <a:rPr lang="en-US" sz="78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·These involves strategic partnership and joint ventures in reducing legitimacy and operational risks (Akinsola et al., 2025)</a:t>
            </a:r>
          </a:p>
          <a:p>
            <a:pPr marL="168402" lvl="1" indent="-84201" algn="l">
              <a:lnSpc>
                <a:spcPts val="1092"/>
              </a:lnSpc>
              <a:buFont typeface="Arial"/>
              <a:buChar char="•"/>
            </a:pPr>
            <a:r>
              <a:rPr lang="en-US" sz="78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·The findings reinforce established internationalisation theories (Uppsala internationalisation model)</a:t>
            </a:r>
          </a:p>
          <a:p>
            <a:pPr marL="168402" lvl="1" indent="-84201" algn="l">
              <a:lnSpc>
                <a:spcPts val="1092"/>
              </a:lnSpc>
              <a:buFont typeface="Arial"/>
              <a:buChar char="•"/>
            </a:pPr>
            <a:r>
              <a:rPr lang="en-US" sz="78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·It emphasises gradual market commitments with experimental learning in foreign expansion decisions (Guercini and Milanesi, 2022)</a:t>
            </a:r>
          </a:p>
          <a:p>
            <a:pPr algn="l">
              <a:lnSpc>
                <a:spcPts val="1092"/>
              </a:lnSpc>
            </a:pPr>
            <a:endParaRPr lang="en-US" sz="78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777</Words>
  <Application>Microsoft Macintosh PowerPoint</Application>
  <PresentationFormat>Custom</PresentationFormat>
  <Paragraphs>36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Times New Roman Italics</vt:lpstr>
      <vt:lpstr>Calibri</vt:lpstr>
      <vt:lpstr>Times New Roman Bold</vt:lpstr>
      <vt:lpstr>Arial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Rama Koteswara Rao Mangineni</cp:lastModifiedBy>
  <cp:revision>1</cp:revision>
  <dcterms:created xsi:type="dcterms:W3CDTF">2006-08-16T00:00:00Z</dcterms:created>
  <dcterms:modified xsi:type="dcterms:W3CDTF">2026-03-21T11:16:17Z</dcterms:modified>
  <dc:identifier>DAHBv2b5xqI</dc:identifier>
</cp:coreProperties>
</file>