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8" r:id="rId3"/>
    <p:sldId id="259" r:id="rId4"/>
    <p:sldId id="260" r:id="rId5"/>
    <p:sldId id="263" r:id="rId6"/>
    <p:sldId id="273" r:id="rId7"/>
    <p:sldId id="274"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5gKfUjlKImUD0Onp8nd/qBULY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C1D5B0-B599-4033-9A7B-2B28E58E93A1}">
  <a:tblStyle styleId="{F3C1D5B0-B599-4033-9A7B-2B28E58E93A1}"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p:restoredTop sz="94698"/>
  </p:normalViewPr>
  <p:slideViewPr>
    <p:cSldViewPr snapToGrid="0">
      <p:cViewPr varScale="1">
        <p:scale>
          <a:sx n="163" d="100"/>
          <a:sy n="163" d="100"/>
        </p:scale>
        <p:origin x="18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0374713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i.org/10.3390/psych4020013"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doi.org/10.1007/978-3-031-31346-2_3" TargetMode="External"/><Relationship Id="rId5" Type="http://schemas.openxmlformats.org/officeDocument/2006/relationships/hyperlink" Target="https://doi.org/10.37074/jalt.2023.6.2.17" TargetMode="External"/><Relationship Id="rId4" Type="http://schemas.openxmlformats.org/officeDocument/2006/relationships/hyperlink" Target="https://d1wqtxts1xzle7.cloudfront.net/104584003/AKE_2_3_No._23-libre.pdf?1690550783=&amp;response-content-disposition=inline%3B+filename%3DNVivo_for_Social_Sciences_and_Management.pdf&amp;Expires=1769016357&amp;Signature=BTM2VVXduHb1KiHfXJ9moJALqqc-kgSyKwgrqkb3K~Rwe43VpehRRczY9ZcsX2TBdfK5sfLTz1cgpGkkZneUlJCr8mq7IUb1h52STXbhDOip5ypx~xizQyLbGPu8jD-MheIivS-j--UtCHG6yYVRZGldsW6myoSjoWGS~XqVeZCJKNCpevAREsqDbL-icZqQHbP0dmgIWGi~bp~8K68hAKlkHA8AzF~LohAGTuVatCe0drvZpnJRIrugNZ51cFq6GlKZDqrMCHAZRJKAtR29H9QwsoIhO98TmRBoiWpSBtWPu1fjUTSEoZj68yPBVpsGQy9bSjIF50ZS1jUdtvfcvg__&amp;Key-Pair-Id=APKAJLOHF5GGSLRBV4ZA"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3312cf8d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b="0" i="0" u="none" strike="noStrike" cap="none" dirty="0">
                <a:solidFill>
                  <a:srgbClr val="000000"/>
                </a:solidFill>
                <a:effectLst/>
                <a:latin typeface="Arial"/>
                <a:ea typeface="Arial"/>
                <a:cs typeface="Arial"/>
                <a:sym typeface="Arial"/>
              </a:rPr>
              <a:t>I am Rama </a:t>
            </a:r>
            <a:r>
              <a:rPr lang="en-GB" sz="1100" b="0" i="0" u="none" strike="noStrike" cap="none" dirty="0" err="1">
                <a:solidFill>
                  <a:srgbClr val="000000"/>
                </a:solidFill>
                <a:effectLst/>
                <a:latin typeface="Arial"/>
                <a:ea typeface="Arial"/>
                <a:cs typeface="Arial"/>
                <a:sym typeface="Arial"/>
              </a:rPr>
              <a:t>Koteswara</a:t>
            </a:r>
            <a:r>
              <a:rPr lang="en-GB" sz="1100" b="0" i="0" u="none" strike="noStrike" cap="none" dirty="0">
                <a:solidFill>
                  <a:srgbClr val="000000"/>
                </a:solidFill>
                <a:effectLst/>
                <a:latin typeface="Arial"/>
                <a:ea typeface="Arial"/>
                <a:cs typeface="Arial"/>
                <a:sym typeface="Arial"/>
              </a:rPr>
              <a:t> Rao </a:t>
            </a:r>
            <a:r>
              <a:rPr lang="en-GB" sz="1100" b="0" i="0" u="none" strike="noStrike" cap="none" dirty="0" err="1">
                <a:solidFill>
                  <a:srgbClr val="000000"/>
                </a:solidFill>
                <a:effectLst/>
                <a:latin typeface="Arial"/>
                <a:ea typeface="Arial"/>
                <a:cs typeface="Arial"/>
                <a:sym typeface="Arial"/>
              </a:rPr>
              <a:t>Mangineni</a:t>
            </a:r>
            <a:r>
              <a:rPr lang="en-GB" sz="1100" b="0" i="0" u="none" strike="noStrike" cap="none" dirty="0">
                <a:solidFill>
                  <a:srgbClr val="000000"/>
                </a:solidFill>
                <a:effectLst/>
                <a:latin typeface="Arial"/>
                <a:ea typeface="Arial"/>
                <a:cs typeface="Arial"/>
                <a:sym typeface="Arial"/>
              </a:rPr>
              <a:t>, a student in the International Business Management programme, and currently presenting an overview of my results, findings, analysis and discussion section on the topic of "Exploring organisational approaches to international market entry under the global economy”.</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58" name="Google Shape;58;g33312cf8d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1000"/>
              </a:spcBef>
              <a:spcAft>
                <a:spcPts val="0"/>
              </a:spcAft>
              <a:buClr>
                <a:schemeClr val="dk1"/>
              </a:buClr>
              <a:buSzPts val="1100"/>
              <a:buFont typeface="Arial"/>
              <a:buNone/>
              <a:tabLst/>
              <a:defRPr/>
            </a:pPr>
            <a:r>
              <a:rPr lang="en-GB" sz="1100" b="0" i="0" u="none" strike="noStrike" cap="none" dirty="0">
                <a:solidFill>
                  <a:srgbClr val="000000"/>
                </a:solidFill>
                <a:effectLst/>
                <a:latin typeface="Arial"/>
                <a:ea typeface="Arial"/>
                <a:cs typeface="Arial"/>
                <a:sym typeface="Arial"/>
              </a:rPr>
              <a:t>In this slide, I have presented the aim, objectives and research question of the study to provide a clear direction of the research and help the reader in understanding the actual purpose of the study.</a:t>
            </a:r>
            <a:endParaRPr lang="en-US" sz="1100" b="0" i="0" u="none" strike="noStrike" cap="none" dirty="0">
              <a:solidFill>
                <a:srgbClr val="000000"/>
              </a:solidFill>
              <a:effectLst/>
              <a:latin typeface="Arial"/>
              <a:ea typeface="Arial"/>
              <a:cs typeface="Arial"/>
              <a:sym typeface="Arial"/>
            </a:endParaRPr>
          </a:p>
          <a:p>
            <a:pPr marL="0" lvl="0" indent="0" algn="l" rtl="0">
              <a:lnSpc>
                <a:spcPct val="150000"/>
              </a:lnSpc>
              <a:spcBef>
                <a:spcPts val="1000"/>
              </a:spcBef>
              <a:spcAft>
                <a:spcPts val="0"/>
              </a:spcAft>
              <a:buClr>
                <a:schemeClr val="dk1"/>
              </a:buClr>
              <a:buSzPts val="1100"/>
              <a:buFont typeface="Arial"/>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1000"/>
              </a:spcBef>
              <a:spcAft>
                <a:spcPts val="0"/>
              </a:spcAft>
              <a:buClr>
                <a:srgbClr val="000000"/>
              </a:buClr>
              <a:buSzPts val="1100"/>
              <a:buFont typeface="Arial"/>
              <a:buNone/>
              <a:tabLst/>
              <a:defRPr/>
            </a:pPr>
            <a:r>
              <a:rPr lang="en-GB" sz="1100" b="0" i="0" u="none" strike="noStrike" cap="none" dirty="0">
                <a:solidFill>
                  <a:srgbClr val="000000"/>
                </a:solidFill>
                <a:effectLst/>
                <a:latin typeface="Arial"/>
                <a:ea typeface="Arial"/>
                <a:cs typeface="Arial"/>
                <a:sym typeface="Arial"/>
              </a:rPr>
              <a:t>The slide is focused on outlining publicly available sources or secondary qualitative data, which are selected to carry out an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-based thematic analysis into practices.</a:t>
            </a:r>
            <a:endParaRPr lang="en-US" sz="1100" b="0" i="0" u="none" strike="noStrike" cap="none" dirty="0">
              <a:solidFill>
                <a:srgbClr val="000000"/>
              </a:solidFill>
              <a:effectLst/>
              <a:latin typeface="Arial"/>
              <a:ea typeface="Arial"/>
              <a:cs typeface="Arial"/>
              <a:sym typeface="Arial"/>
            </a:endParaRPr>
          </a:p>
          <a:p>
            <a:pPr marL="0" lvl="0" indent="0" algn="l" rtl="0">
              <a:lnSpc>
                <a:spcPct val="150000"/>
              </a:lnSpc>
              <a:spcBef>
                <a:spcPts val="100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marR="0" lvl="0" indent="0" algn="l" defTabSz="914400" rtl="0" eaLnBrk="1" fontAlgn="auto" latinLnBrk="0" hangingPunct="1">
              <a:lnSpc>
                <a:spcPct val="100000"/>
              </a:lnSpc>
              <a:spcBef>
                <a:spcPts val="1000"/>
              </a:spcBef>
              <a:spcAft>
                <a:spcPts val="0"/>
              </a:spcAft>
              <a:buClr>
                <a:srgbClr val="000000"/>
              </a:buClr>
              <a:buSzPts val="1100"/>
              <a:buFont typeface="Arial"/>
              <a:buNone/>
              <a:tabLst/>
              <a:defRPr/>
            </a:pPr>
            <a:r>
              <a:rPr lang="en-GB" sz="1100" b="0" i="0" u="none" strike="noStrike" cap="none" dirty="0">
                <a:solidFill>
                  <a:srgbClr val="000000"/>
                </a:solidFill>
                <a:effectLst/>
                <a:latin typeface="Arial"/>
                <a:ea typeface="Arial"/>
                <a:cs typeface="Arial"/>
                <a:sym typeface="Arial"/>
              </a:rPr>
              <a:t>The slide contributes towards explaining the procedure and effectiveness of analysing secondary qualitative data with the help of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software </a:t>
            </a:r>
            <a:endParaRPr lang="en-US" sz="1100" b="0" i="0" u="none" strike="noStrike" cap="none" dirty="0">
              <a:solidFill>
                <a:srgbClr val="000000"/>
              </a:solidFill>
              <a:effectLst/>
              <a:latin typeface="Arial"/>
              <a:ea typeface="Arial"/>
              <a:cs typeface="Arial"/>
              <a:sym typeface="Arial"/>
            </a:endParaRPr>
          </a:p>
          <a:p>
            <a:pPr marL="158750" marR="0" lvl="0" indent="0" algn="l" rtl="0">
              <a:lnSpc>
                <a:spcPct val="100000"/>
              </a:lnSpc>
              <a:spcBef>
                <a:spcPts val="100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1000"/>
              </a:spcBef>
              <a:spcAft>
                <a:spcPts val="0"/>
              </a:spcAft>
              <a:buClr>
                <a:schemeClr val="dk1"/>
              </a:buClr>
              <a:buSzPts val="1100"/>
              <a:buFont typeface="Arial"/>
              <a:buNone/>
              <a:tabLst/>
              <a:defRPr/>
            </a:pPr>
            <a:r>
              <a:rPr lang="en-GB" sz="1100" b="0" i="0" u="none" strike="noStrike" cap="none" dirty="0">
                <a:solidFill>
                  <a:srgbClr val="000000"/>
                </a:solidFill>
                <a:effectLst/>
                <a:latin typeface="Arial"/>
                <a:ea typeface="Arial"/>
                <a:cs typeface="Arial"/>
                <a:sym typeface="Arial"/>
              </a:rPr>
              <a:t>The slide presents how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software is utilised in supporting thematic analysis and systematic coding of secondary qualitative data.</a:t>
            </a:r>
            <a:endParaRPr lang="en-US" sz="1100" b="0" i="0" u="none" strike="noStrike" cap="none" dirty="0">
              <a:solidFill>
                <a:srgbClr val="000000"/>
              </a:solidFill>
              <a:effectLst/>
              <a:latin typeface="Arial"/>
              <a:ea typeface="Arial"/>
              <a:cs typeface="Arial"/>
              <a:sym typeface="Arial"/>
            </a:endParaRPr>
          </a:p>
          <a:p>
            <a:pPr marL="0" lvl="0" indent="0" algn="l" rtl="0">
              <a:lnSpc>
                <a:spcPct val="150000"/>
              </a:lnSpc>
              <a:spcBef>
                <a:spcPts val="1000"/>
              </a:spcBef>
              <a:spcAft>
                <a:spcPts val="0"/>
              </a:spcAft>
              <a:buClr>
                <a:schemeClr val="dk1"/>
              </a:buClr>
              <a:buSzPts val="1100"/>
              <a:buFont typeface="Arial"/>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sz="1100" b="0" i="0" u="none" strike="noStrike" cap="none" dirty="0" err="1">
                <a:solidFill>
                  <a:srgbClr val="000000"/>
                </a:solidFill>
                <a:effectLst/>
                <a:latin typeface="Arial"/>
                <a:ea typeface="Arial"/>
                <a:cs typeface="Arial"/>
                <a:sym typeface="Arial"/>
              </a:rPr>
              <a:t>Allsop</a:t>
            </a:r>
            <a:r>
              <a:rPr lang="en-GB" sz="1100" b="0" i="0" u="none" strike="noStrike" cap="none" dirty="0">
                <a:solidFill>
                  <a:srgbClr val="000000"/>
                </a:solidFill>
                <a:effectLst/>
                <a:latin typeface="Arial"/>
                <a:ea typeface="Arial"/>
                <a:cs typeface="Arial"/>
                <a:sym typeface="Arial"/>
              </a:rPr>
              <a:t>, D.B., </a:t>
            </a:r>
            <a:r>
              <a:rPr lang="en-GB" sz="1100" b="0" i="0" u="none" strike="noStrike" cap="none" dirty="0" err="1">
                <a:solidFill>
                  <a:srgbClr val="000000"/>
                </a:solidFill>
                <a:effectLst/>
                <a:latin typeface="Arial"/>
                <a:ea typeface="Arial"/>
                <a:cs typeface="Arial"/>
                <a:sym typeface="Arial"/>
              </a:rPr>
              <a:t>Chelladurai</a:t>
            </a:r>
            <a:r>
              <a:rPr lang="en-GB" sz="1100" b="0" i="0" u="none" strike="noStrike" cap="none" dirty="0">
                <a:solidFill>
                  <a:srgbClr val="000000"/>
                </a:solidFill>
                <a:effectLst/>
                <a:latin typeface="Arial"/>
                <a:ea typeface="Arial"/>
                <a:cs typeface="Arial"/>
                <a:sym typeface="Arial"/>
              </a:rPr>
              <a:t>, J.M., Kimball, E.R., Marks, L.D. and Hendricks, J.J., (2022). Qualitative methods with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software: A practical guide for analysing qualitative data. Psych, 4(2), pp.142-159. </a:t>
            </a:r>
            <a:r>
              <a:rPr lang="en-GB" sz="1100" b="0" i="0" u="sng" strike="noStrike" cap="none" dirty="0">
                <a:solidFill>
                  <a:srgbClr val="000000"/>
                </a:solidFill>
                <a:effectLst/>
                <a:latin typeface="Arial"/>
                <a:ea typeface="Arial"/>
                <a:cs typeface="Arial"/>
                <a:sym typeface="Arial"/>
                <a:hlinkClick r:id="rId3"/>
              </a:rPr>
              <a:t>https://doi.org/10.3390/psych4020013</a:t>
            </a:r>
            <a:r>
              <a:rPr lang="en-GB" sz="1100" b="0" i="0" u="none" strike="noStrike" cap="none" dirty="0">
                <a:solidFill>
                  <a:srgbClr val="000000"/>
                </a:solidFill>
                <a:effectLst/>
                <a:latin typeface="Arial"/>
                <a:ea typeface="Arial"/>
                <a:cs typeface="Arial"/>
                <a:sym typeface="Arial"/>
              </a:rPr>
              <a:t> </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err="1">
                <a:solidFill>
                  <a:srgbClr val="000000"/>
                </a:solidFill>
                <a:effectLst/>
                <a:latin typeface="Arial"/>
                <a:ea typeface="Arial"/>
                <a:cs typeface="Arial"/>
                <a:sym typeface="Arial"/>
              </a:rPr>
              <a:t>Kraiwanit</a:t>
            </a:r>
            <a:r>
              <a:rPr lang="en-GB" sz="1100" b="0" i="0" u="none" strike="noStrike" cap="none" dirty="0">
                <a:solidFill>
                  <a:srgbClr val="000000"/>
                </a:solidFill>
                <a:effectLst/>
                <a:latin typeface="Arial"/>
                <a:ea typeface="Arial"/>
                <a:cs typeface="Arial"/>
                <a:sym typeface="Arial"/>
              </a:rPr>
              <a:t>, T., </a:t>
            </a:r>
            <a:r>
              <a:rPr lang="en-GB" sz="1100" b="0" i="0" u="none" strike="noStrike" cap="none" dirty="0" err="1">
                <a:solidFill>
                  <a:srgbClr val="000000"/>
                </a:solidFill>
                <a:effectLst/>
                <a:latin typeface="Arial"/>
                <a:ea typeface="Arial"/>
                <a:cs typeface="Arial"/>
                <a:sym typeface="Arial"/>
              </a:rPr>
              <a:t>Limna</a:t>
            </a:r>
            <a:r>
              <a:rPr lang="en-GB" sz="1100" b="0" i="0" u="none" strike="noStrike" cap="none" dirty="0">
                <a:solidFill>
                  <a:srgbClr val="000000"/>
                </a:solidFill>
                <a:effectLst/>
                <a:latin typeface="Arial"/>
                <a:ea typeface="Arial"/>
                <a:cs typeface="Arial"/>
                <a:sym typeface="Arial"/>
              </a:rPr>
              <a:t>, P. and </a:t>
            </a:r>
            <a:r>
              <a:rPr lang="en-GB" sz="1100" b="0" i="0" u="none" strike="noStrike" cap="none" dirty="0" err="1">
                <a:solidFill>
                  <a:srgbClr val="000000"/>
                </a:solidFill>
                <a:effectLst/>
                <a:latin typeface="Arial"/>
                <a:ea typeface="Arial"/>
                <a:cs typeface="Arial"/>
                <a:sym typeface="Arial"/>
              </a:rPr>
              <a:t>Siripipatthanakul</a:t>
            </a:r>
            <a:r>
              <a:rPr lang="en-GB" sz="1100" b="0" i="0" u="none" strike="noStrike" cap="none" dirty="0">
                <a:solidFill>
                  <a:srgbClr val="000000"/>
                </a:solidFill>
                <a:effectLst/>
                <a:latin typeface="Arial"/>
                <a:ea typeface="Arial"/>
                <a:cs typeface="Arial"/>
                <a:sym typeface="Arial"/>
              </a:rPr>
              <a:t>, S., (2023).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for social sciences and management studies: A systematic review. Advance Knowledge for Executives, 2(3), pp.1-11. </a:t>
            </a:r>
            <a:r>
              <a:rPr lang="en-GB" sz="1100" b="0" i="0" u="sng" strike="noStrike" cap="none" dirty="0">
                <a:solidFill>
                  <a:srgbClr val="000000"/>
                </a:solidFill>
                <a:effectLst/>
                <a:latin typeface="Arial"/>
                <a:ea typeface="Arial"/>
                <a:cs typeface="Arial"/>
                <a:sym typeface="Arial"/>
                <a:hlinkClick r:id="rId4"/>
              </a:rPr>
              <a:t>https://d1wqtxts1xzle7.cloudfront.net/104584003/AKE_2_3_No._23-libre.pdf?1690550783=&amp;response-content-disposition=inline%3B+filename%3DNVivo_for_Social_Sciences_and_Management.pdf&amp;Expires=1769016357&amp;Signature=BTM2VVXduHb1KiHfXJ9moJALqqc-kgSyKwgrqkb3K~Rwe43VpehRRczY9ZcsX2TBdfK5sfLTz1cgpGkkZneUlJCr8mq7IUb1h52STXbhDOip5ypx~xizQyLbGPu8jD-MheIivS-j--UtCHG6yYVRZGldsW6myoSjoWGS~XqVeZCJKNCpevAREsqDbL-icZqQHbP0dmgIWGi~bp~8K68hAKlkHA8AzF~LohAGTuVatCe0drvZpnJRIrugNZ51cFq6GlKZDqrMCHAZRJKAtR29H9QwsoIhO98TmRBoiWpSBtWPu1fjUTSEoZj68yPBVpsGQy9bSjIF50ZS1jUdtvfcvg__&amp;Key-Pair-Id=APKAJLOHF5GGSLRBV4ZA</a:t>
            </a:r>
            <a:r>
              <a:rPr lang="en-GB" sz="1100" b="0" i="0" u="none" strike="noStrike" cap="none" dirty="0">
                <a:solidFill>
                  <a:srgbClr val="000000"/>
                </a:solidFill>
                <a:effectLst/>
                <a:latin typeface="Arial"/>
                <a:ea typeface="Arial"/>
                <a:cs typeface="Arial"/>
                <a:sym typeface="Arial"/>
              </a:rPr>
              <a:t> </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err="1">
                <a:solidFill>
                  <a:srgbClr val="000000"/>
                </a:solidFill>
                <a:effectLst/>
                <a:latin typeface="Arial"/>
                <a:ea typeface="Arial"/>
                <a:cs typeface="Arial"/>
                <a:sym typeface="Arial"/>
              </a:rPr>
              <a:t>Limna</a:t>
            </a:r>
            <a:r>
              <a:rPr lang="en-GB" sz="1100" b="0" i="0" u="none" strike="noStrike" cap="none" dirty="0">
                <a:solidFill>
                  <a:srgbClr val="000000"/>
                </a:solidFill>
                <a:effectLst/>
                <a:latin typeface="Arial"/>
                <a:ea typeface="Arial"/>
                <a:cs typeface="Arial"/>
                <a:sym typeface="Arial"/>
              </a:rPr>
              <a:t>, P. (2023). The impact of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in qualitative research: Perspectives from graduate students. Journal of Applied Learning and Teaching, 6(2), 271-282. </a:t>
            </a:r>
            <a:r>
              <a:rPr lang="en-GB" sz="1100" b="0" i="0" u="sng" strike="noStrike" cap="none" dirty="0">
                <a:solidFill>
                  <a:srgbClr val="000000"/>
                </a:solidFill>
                <a:effectLst/>
                <a:latin typeface="Arial"/>
                <a:ea typeface="Arial"/>
                <a:cs typeface="Arial"/>
                <a:sym typeface="Arial"/>
                <a:hlinkClick r:id="rId5"/>
              </a:rPr>
              <a:t>https://doi.org/10.37074/jalt.2023.6.2.17</a:t>
            </a:r>
            <a:r>
              <a:rPr lang="en-GB" sz="1100" b="0" i="0" u="none" strike="noStrike" cap="none" dirty="0">
                <a:solidFill>
                  <a:srgbClr val="000000"/>
                </a:solidFill>
                <a:effectLst/>
                <a:latin typeface="Arial"/>
                <a:ea typeface="Arial"/>
                <a:cs typeface="Arial"/>
                <a:sym typeface="Arial"/>
              </a:rPr>
              <a:t> </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err="1">
                <a:solidFill>
                  <a:srgbClr val="000000"/>
                </a:solidFill>
                <a:effectLst/>
                <a:latin typeface="Arial"/>
                <a:ea typeface="Arial"/>
                <a:cs typeface="Arial"/>
                <a:sym typeface="Arial"/>
              </a:rPr>
              <a:t>Niedbalski</a:t>
            </a:r>
            <a:r>
              <a:rPr lang="en-GB" sz="1100" b="0" i="0" u="none" strike="noStrike" cap="none" dirty="0">
                <a:solidFill>
                  <a:srgbClr val="000000"/>
                </a:solidFill>
                <a:effectLst/>
                <a:latin typeface="Arial"/>
                <a:ea typeface="Arial"/>
                <a:cs typeface="Arial"/>
                <a:sym typeface="Arial"/>
              </a:rPr>
              <a:t>, J. and </a:t>
            </a:r>
            <a:r>
              <a:rPr lang="en-GB" sz="1100" b="0" i="0" u="none" strike="noStrike" cap="none" dirty="0" err="1">
                <a:solidFill>
                  <a:srgbClr val="000000"/>
                </a:solidFill>
                <a:effectLst/>
                <a:latin typeface="Arial"/>
                <a:ea typeface="Arial"/>
                <a:cs typeface="Arial"/>
                <a:sym typeface="Arial"/>
              </a:rPr>
              <a:t>Ślęzak</a:t>
            </a:r>
            <a:r>
              <a:rPr lang="en-GB" sz="1100" b="0" i="0" u="none" strike="noStrike" cap="none" dirty="0">
                <a:solidFill>
                  <a:srgbClr val="000000"/>
                </a:solidFill>
                <a:effectLst/>
                <a:latin typeface="Arial"/>
                <a:ea typeface="Arial"/>
                <a:cs typeface="Arial"/>
                <a:sym typeface="Arial"/>
              </a:rPr>
              <a:t>, I., (2023), January. </a:t>
            </a:r>
            <a:r>
              <a:rPr lang="en-GB" sz="1100" b="0" i="0" u="none" strike="noStrike" cap="none" dirty="0" err="1">
                <a:solidFill>
                  <a:srgbClr val="000000"/>
                </a:solidFill>
                <a:effectLst/>
                <a:latin typeface="Arial"/>
                <a:ea typeface="Arial"/>
                <a:cs typeface="Arial"/>
                <a:sym typeface="Arial"/>
              </a:rPr>
              <a:t>NVivo</a:t>
            </a:r>
            <a:r>
              <a:rPr lang="en-GB" sz="1100" b="0" i="0" u="none" strike="noStrike" cap="none" dirty="0">
                <a:solidFill>
                  <a:srgbClr val="000000"/>
                </a:solidFill>
                <a:effectLst/>
                <a:latin typeface="Arial"/>
                <a:ea typeface="Arial"/>
                <a:cs typeface="Arial"/>
                <a:sym typeface="Arial"/>
              </a:rPr>
              <a:t> as a tool for supporting teamwork in the context of qualitative research conducted remotely: opportunities, limitations, and practical tips. In World Conference on qualitative research (pp. 38-59). Cham: Springer International Publishing. </a:t>
            </a:r>
            <a:r>
              <a:rPr lang="en-GB" sz="1100" b="0" i="0" u="sng" strike="noStrike" cap="none" dirty="0">
                <a:solidFill>
                  <a:srgbClr val="000000"/>
                </a:solidFill>
                <a:effectLst/>
                <a:latin typeface="Arial"/>
                <a:ea typeface="Arial"/>
                <a:cs typeface="Arial"/>
                <a:sym typeface="Arial"/>
                <a:hlinkClick r:id="rId6"/>
              </a:rPr>
              <a:t>https://doi.org/10.1007/978-3-031-31346-2_3</a:t>
            </a:r>
            <a:r>
              <a:rPr lang="en-GB" sz="1100" b="0" i="0" u="none" strike="noStrike" cap="none" dirty="0">
                <a:solidFill>
                  <a:srgbClr val="000000"/>
                </a:solidFill>
                <a:effectLst/>
                <a:latin typeface="Arial"/>
                <a:ea typeface="Arial"/>
                <a:cs typeface="Arial"/>
                <a:sym typeface="Arial"/>
              </a:rPr>
              <a:t> </a:t>
            </a:r>
            <a:endParaRPr lang="en-US"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r>
              <a:rPr lang="en-GB"/>
              <a:t>Click to edit Master title style</a:t>
            </a:r>
            <a:endParaRPr/>
          </a:p>
        </p:txBody>
      </p:sp>
      <p:sp>
        <p:nvSpPr>
          <p:cNvPr id="11" name="Google Shape;11;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GB"/>
              <a:t>Click to edit Master subtitle style</a:t>
            </a:r>
            <a:endParaRPr/>
          </a:p>
        </p:txBody>
      </p:sp>
      <p:sp>
        <p:nvSpPr>
          <p:cNvPr id="12" name="Google Shape;1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r>
              <a:rPr lang="en-GB"/>
              <a:t>Click to edit Master title style</a:t>
            </a:r>
            <a:endParaRPr/>
          </a:p>
        </p:txBody>
      </p:sp>
      <p:sp>
        <p:nvSpPr>
          <p:cNvPr id="15" name="Google Shape;15;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pPr lvl="0"/>
            <a:r>
              <a:rPr lang="en-GB"/>
              <a:t>Click to edit Master text styles</a:t>
            </a:r>
          </a:p>
        </p:txBody>
      </p:sp>
      <p:sp>
        <p:nvSpPr>
          <p:cNvPr id="16" name="Google Shape;1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r>
              <a:rPr lang="en-GB"/>
              <a:t>Click to edit Master title style</a:t>
            </a:r>
            <a:endParaRPr/>
          </a:p>
        </p:txBody>
      </p:sp>
      <p:sp>
        <p:nvSpPr>
          <p:cNvPr id="19" name="Google Shape;19;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r>
              <a:rPr lang="en-GB"/>
              <a:t>Click to edit Master title style</a:t>
            </a:r>
            <a:endParaRPr/>
          </a:p>
        </p:txBody>
      </p:sp>
      <p:sp>
        <p:nvSpPr>
          <p:cNvPr id="22" name="Google Shape;22;p2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pPr lvl="0"/>
            <a:r>
              <a:rPr lang="en-GB"/>
              <a:t>Click to edit Master text styles</a:t>
            </a:r>
          </a:p>
        </p:txBody>
      </p:sp>
      <p:sp>
        <p:nvSpPr>
          <p:cNvPr id="23" name="Google Shape;23;p2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pPr lvl="0"/>
            <a:r>
              <a:rPr lang="en-GB"/>
              <a:t>Click to edit Master text styles</a:t>
            </a:r>
          </a:p>
        </p:txBody>
      </p:sp>
      <p:sp>
        <p:nvSpPr>
          <p:cNvPr id="24" name="Google Shape;2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r>
              <a:rPr lang="en-GB"/>
              <a:t>Click to edit Master title style</a:t>
            </a:r>
            <a:endParaRPr/>
          </a:p>
        </p:txBody>
      </p:sp>
      <p:sp>
        <p:nvSpPr>
          <p:cNvPr id="27" name="Google Shape;2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r>
              <a:rPr lang="en-GB"/>
              <a:t>Click to edit Master title style</a:t>
            </a:r>
            <a:endParaRPr/>
          </a:p>
        </p:txBody>
      </p:sp>
      <p:sp>
        <p:nvSpPr>
          <p:cNvPr id="30" name="Google Shape;30;p2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pPr lvl="0"/>
            <a:r>
              <a:rPr lang="en-GB"/>
              <a:t>Click to edit Master text styles</a:t>
            </a:r>
          </a:p>
        </p:txBody>
      </p:sp>
      <p:sp>
        <p:nvSpPr>
          <p:cNvPr id="31" name="Google Shape;31;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r>
              <a:rPr lang="en-GB"/>
              <a:t>Click to edit Master title style</a:t>
            </a:r>
            <a:endParaRPr/>
          </a:p>
        </p:txBody>
      </p:sp>
      <p:sp>
        <p:nvSpPr>
          <p:cNvPr id="34" name="Google Shape;3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r>
              <a:rPr lang="en-GB"/>
              <a:t>Click to edit Master title style</a:t>
            </a:r>
            <a:endParaRPr/>
          </a:p>
        </p:txBody>
      </p:sp>
      <p:sp>
        <p:nvSpPr>
          <p:cNvPr id="38" name="Google Shape;38;p2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GB"/>
              <a:t>Click to edit Master subtitle style</a:t>
            </a:r>
            <a:endParaRPr/>
          </a:p>
        </p:txBody>
      </p:sp>
      <p:sp>
        <p:nvSpPr>
          <p:cNvPr id="39" name="Google Shape;39;p2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pPr lvl="0"/>
            <a:r>
              <a:rPr lang="en-GB"/>
              <a:t>Click to edit Master text styles</a:t>
            </a:r>
          </a:p>
        </p:txBody>
      </p:sp>
      <p:sp>
        <p:nvSpPr>
          <p:cNvPr id="40" name="Google Shape;4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pPr lvl="0"/>
            <a:r>
              <a:rPr lang="en-GB"/>
              <a:t>Click to edit Master text styles</a:t>
            </a:r>
          </a:p>
        </p:txBody>
      </p:sp>
      <p:sp>
        <p:nvSpPr>
          <p:cNvPr id="43" name="Google Shape;4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pPr lvl="0"/>
            <a:r>
              <a:rPr lang="en-GB"/>
              <a:t>Click to edit Master text styles</a:t>
            </a:r>
          </a:p>
        </p:txBody>
      </p:sp>
      <p:sp>
        <p:nvSpPr>
          <p:cNvPr id="47" name="Google Shape;47;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g33312cf8db3_0_8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GB"/>
              <a:t>Click to edit Master title style</a:t>
            </a:r>
            <a:endParaRPr/>
          </a:p>
        </p:txBody>
      </p:sp>
      <p:sp>
        <p:nvSpPr>
          <p:cNvPr id="52" name="Google Shape;52;g33312cf8db3_0_8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en-GB"/>
              <a:t>Click to edit Master text styles</a:t>
            </a:r>
          </a:p>
        </p:txBody>
      </p:sp>
      <p:sp>
        <p:nvSpPr>
          <p:cNvPr id="53" name="Google Shape;53;g33312cf8db3_0_8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4" name="Google Shape;54;g33312cf8db3_0_8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5" name="Google Shape;55;g33312cf8db3_0_8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390/psych4020013"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1007/978-3-031-31346-2_3" TargetMode="External"/><Relationship Id="rId5" Type="http://schemas.openxmlformats.org/officeDocument/2006/relationships/hyperlink" Target="https://doi.org/10.37074/jalt.2023.6.2.17" TargetMode="External"/><Relationship Id="rId4" Type="http://schemas.openxmlformats.org/officeDocument/2006/relationships/hyperlink" Target="https://d1wqtxts1xzle7.cloudfront.net/104584003/AKE_2_3_No._23-libre.pdf?1690550783=&amp;response-content-disposition=inline%3B+filename%3DNVivo_for_Social_Sciences_and_Management.pdf&amp;Expires=1769016357&amp;Signature=BTM2VVXduHb1KiHfXJ9moJALqqc-kgSyKwgrqkb3K~Rwe43VpehRRczY9ZcsX2TBdfK5sfLTz1cgpGkkZneUlJCr8mq7IUb1h52STXbhDOip5ypx~xizQyLbGPu8jD-MheIivS-j--UtCHG6yYVRZGldsW6myoSjoWGS~XqVeZCJKNCpevAREsqDbL-icZqQHbP0dmgIWGi~bp~8K68hAKlkHA8AzF~LohAGTuVatCe0drvZpnJRIrugNZ51cFq6GlKZDqrMCHAZRJKAtR29H9QwsoIhO98TmRBoiWpSBtWPu1fjUTSEoZj68yPBVpsGQy9bSjIF50ZS1jUdtvfcvg__&amp;Key-Pair-Id=APKAJLOHF5GGSLRBV4ZA"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3" name="Google Shape;63;g33312cf8db3_0_0"/>
          <p:cNvSpPr txBox="1"/>
          <p:nvPr/>
        </p:nvSpPr>
        <p:spPr>
          <a:xfrm>
            <a:off x="270669" y="2321379"/>
            <a:ext cx="8605800" cy="2408321"/>
          </a:xfrm>
          <a:prstGeom prst="rect">
            <a:avLst/>
          </a:prstGeom>
          <a:noFill/>
          <a:ln>
            <a:noFill/>
          </a:ln>
        </p:spPr>
        <p:txBody>
          <a:bodyPr spcFirstLastPara="1" wrap="square" lIns="68575" tIns="34275" rIns="68575" bIns="34275" anchor="t" anchorCtr="0">
            <a:spAutoFit/>
          </a:bodyPr>
          <a:lstStyle/>
          <a:p>
            <a:pPr algn="ctr"/>
            <a:r>
              <a:rPr lang="en-GB" b="1" dirty="0">
                <a:latin typeface="Times New Roman" panose="02020603050405020304" pitchFamily="18" charset="0"/>
                <a:cs typeface="Times New Roman" panose="02020603050405020304" pitchFamily="18" charset="0"/>
              </a:rPr>
              <a:t>BUS7C4 SUPERVISION SESSION</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LECTURE RESULTS/FINDINGS, ANALYSIS AND DISCUSSION</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GB" sz="2000" b="1" dirty="0">
                <a:latin typeface="Times New Roman" panose="02020603050405020304" pitchFamily="18" charset="0"/>
                <a:cs typeface="Times New Roman" panose="02020603050405020304" pitchFamily="18" charset="0"/>
              </a:rPr>
              <a:t>EXPLORING ORGANISATIONAL APPROACHES TO INTERNATIONAL MARKET ENTRY UNDER THE GLOBAL ECONOMY</a:t>
            </a:r>
            <a:endParaRPr lang="en-US" sz="2000"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Student Name: Rama </a:t>
            </a:r>
            <a:r>
              <a:rPr lang="en-GB" b="1" dirty="0" err="1">
                <a:latin typeface="Times New Roman" panose="02020603050405020304" pitchFamily="18" charset="0"/>
                <a:cs typeface="Times New Roman" panose="02020603050405020304" pitchFamily="18" charset="0"/>
              </a:rPr>
              <a:t>Koteswara</a:t>
            </a:r>
            <a:r>
              <a:rPr lang="en-GB" b="1" dirty="0">
                <a:latin typeface="Times New Roman" panose="02020603050405020304" pitchFamily="18" charset="0"/>
                <a:cs typeface="Times New Roman" panose="02020603050405020304" pitchFamily="18" charset="0"/>
              </a:rPr>
              <a:t> Rao </a:t>
            </a:r>
            <a:r>
              <a:rPr lang="en-GB" b="1" dirty="0" err="1">
                <a:latin typeface="Times New Roman" panose="02020603050405020304" pitchFamily="18" charset="0"/>
                <a:cs typeface="Times New Roman" panose="02020603050405020304" pitchFamily="18" charset="0"/>
              </a:rPr>
              <a:t>Mangineni</a:t>
            </a:r>
            <a:endParaRPr lang="en-US" dirty="0">
              <a:latin typeface="Times New Roman" panose="02020603050405020304" pitchFamily="18" charset="0"/>
              <a:cs typeface="Times New Roman" panose="02020603050405020304" pitchFamily="18" charset="0"/>
            </a:endParaRPr>
          </a:p>
          <a:p>
            <a:pPr algn="ctr"/>
            <a:r>
              <a:rPr lang="en-GB" b="1" dirty="0">
                <a:latin typeface="Times New Roman" panose="02020603050405020304" pitchFamily="18" charset="0"/>
                <a:cs typeface="Times New Roman" panose="02020603050405020304" pitchFamily="18" charset="0"/>
              </a:rPr>
              <a:t>Student ID: S24013995</a:t>
            </a:r>
            <a:endParaRPr lang="en-US"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stretch>
            <a:fillRect/>
          </a:stretch>
        </p:blipFill>
        <p:spPr>
          <a:xfrm>
            <a:off x="6191250" y="138112"/>
            <a:ext cx="2781300" cy="7524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311700" y="0"/>
            <a:ext cx="8520600" cy="755700"/>
          </a:xfrm>
          <a:prstGeom prst="rect">
            <a:avLst/>
          </a:prstGeom>
        </p:spPr>
        <p:txBody>
          <a:bodyPr spcFirstLastPara="1" wrap="square" lIns="91425" tIns="91425" rIns="91425" bIns="91425" anchor="t" anchorCtr="0">
            <a:noAutofit/>
          </a:bodyPr>
          <a:lstStyle/>
          <a:p>
            <a:pPr lvl="0" algn="ctr">
              <a:lnSpc>
                <a:spcPct val="150000"/>
              </a:lnSpc>
              <a:buSzPts val="1100"/>
            </a:pPr>
            <a:r>
              <a:rPr lang="en-GB" sz="2000" b="1" dirty="0">
                <a:latin typeface="Times New Roman" panose="02020603050405020304" pitchFamily="18" charset="0"/>
                <a:cs typeface="Times New Roman" panose="02020603050405020304" pitchFamily="18" charset="0"/>
              </a:rPr>
              <a:t>AIM, OBJECTIVES AND RESEARCH QUESTION OF THE STUDY</a:t>
            </a:r>
            <a:endParaRPr sz="2000" b="1" dirty="0">
              <a:latin typeface="Times New Roman" panose="02020603050405020304" pitchFamily="18" charset="0"/>
              <a:cs typeface="Times New Roman" panose="02020603050405020304" pitchFamily="18" charset="0"/>
            </a:endParaRPr>
          </a:p>
        </p:txBody>
      </p:sp>
      <p:sp>
        <p:nvSpPr>
          <p:cNvPr id="77" name="Google Shape;77;p2"/>
          <p:cNvSpPr txBox="1">
            <a:spLocks noGrp="1"/>
          </p:cNvSpPr>
          <p:nvPr>
            <p:ph type="body" idx="1"/>
          </p:nvPr>
        </p:nvSpPr>
        <p:spPr>
          <a:xfrm>
            <a:off x="0" y="873075"/>
            <a:ext cx="9144000" cy="3416400"/>
          </a:xfrm>
          <a:prstGeom prst="rect">
            <a:avLst/>
          </a:prstGeom>
        </p:spPr>
        <p:txBody>
          <a:bodyPr spcFirstLastPara="1" wrap="square" lIns="91425" tIns="91425" rIns="91425" bIns="91425" anchor="t" anchorCtr="0">
            <a:noAutofit/>
          </a:bodyPr>
          <a:lstStyle/>
          <a:p>
            <a:pPr marL="139700" indent="0" algn="just">
              <a:lnSpc>
                <a:spcPct val="150000"/>
              </a:lnSpc>
              <a:buNone/>
            </a:pPr>
            <a:r>
              <a:rPr lang="en-GB" i="1" dirty="0">
                <a:solidFill>
                  <a:schemeClr val="tx1"/>
                </a:solidFill>
                <a:latin typeface="Times New Roman" panose="02020603050405020304" pitchFamily="18" charset="0"/>
                <a:cs typeface="Times New Roman" panose="02020603050405020304" pitchFamily="18" charset="0"/>
              </a:rPr>
              <a:t>Research Question</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GB" dirty="0">
                <a:solidFill>
                  <a:schemeClr val="tx1"/>
                </a:solidFill>
                <a:latin typeface="Times New Roman" panose="02020603050405020304" pitchFamily="18" charset="0"/>
                <a:cs typeface="Times New Roman" panose="02020603050405020304" pitchFamily="18" charset="0"/>
              </a:rPr>
              <a:t>How do organisations approach international market entry in the context of the global economy?</a:t>
            </a:r>
            <a:endParaRPr lang="en-US" dirty="0">
              <a:solidFill>
                <a:schemeClr val="tx1"/>
              </a:solidFill>
              <a:latin typeface="Times New Roman" panose="02020603050405020304" pitchFamily="18" charset="0"/>
              <a:cs typeface="Times New Roman" panose="02020603050405020304" pitchFamily="18" charset="0"/>
            </a:endParaRPr>
          </a:p>
          <a:p>
            <a:pPr marL="139700" indent="0" algn="just">
              <a:lnSpc>
                <a:spcPct val="150000"/>
              </a:lnSpc>
              <a:buNone/>
            </a:pPr>
            <a:r>
              <a:rPr lang="en-GB" i="1" dirty="0">
                <a:solidFill>
                  <a:schemeClr val="tx1"/>
                </a:solidFill>
                <a:latin typeface="Times New Roman" panose="02020603050405020304" pitchFamily="18" charset="0"/>
                <a:cs typeface="Times New Roman" panose="02020603050405020304" pitchFamily="18" charset="0"/>
              </a:rPr>
              <a:t>Research Aim:</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GB" dirty="0">
                <a:solidFill>
                  <a:schemeClr val="tx1"/>
                </a:solidFill>
                <a:latin typeface="Times New Roman" panose="02020603050405020304" pitchFamily="18" charset="0"/>
                <a:cs typeface="Times New Roman" panose="02020603050405020304" pitchFamily="18" charset="0"/>
              </a:rPr>
              <a:t>The study aims to “</a:t>
            </a:r>
            <a:r>
              <a:rPr lang="en-GB" i="1" dirty="0">
                <a:solidFill>
                  <a:schemeClr val="tx1"/>
                </a:solidFill>
                <a:latin typeface="Times New Roman" panose="02020603050405020304" pitchFamily="18" charset="0"/>
                <a:cs typeface="Times New Roman" panose="02020603050405020304" pitchFamily="18" charset="0"/>
              </a:rPr>
              <a:t>Explore how organisations undertake international market entry strategies within the global economy</a:t>
            </a:r>
            <a:r>
              <a:rPr lang="en-GB" dirty="0">
                <a:solidFill>
                  <a:schemeClr val="tx1"/>
                </a:solidFill>
                <a:latin typeface="Times New Roman" panose="02020603050405020304" pitchFamily="18" charset="0"/>
                <a:cs typeface="Times New Roman" panose="02020603050405020304" pitchFamily="18" charset="0"/>
              </a:rPr>
              <a:t>". These are through the assistance of evaluating existing qualitative evidence from reliable sources.</a:t>
            </a:r>
            <a:endParaRPr lang="en-US" dirty="0">
              <a:solidFill>
                <a:schemeClr val="tx1"/>
              </a:solidFill>
              <a:latin typeface="Times New Roman" panose="02020603050405020304" pitchFamily="18" charset="0"/>
              <a:cs typeface="Times New Roman" panose="02020603050405020304" pitchFamily="18" charset="0"/>
            </a:endParaRPr>
          </a:p>
          <a:p>
            <a:pPr marL="139700" indent="0" algn="just">
              <a:lnSpc>
                <a:spcPct val="150000"/>
              </a:lnSpc>
              <a:buNone/>
            </a:pPr>
            <a:r>
              <a:rPr lang="en-GB" i="1" dirty="0">
                <a:solidFill>
                  <a:schemeClr val="tx1"/>
                </a:solidFill>
                <a:latin typeface="Times New Roman" panose="02020603050405020304" pitchFamily="18" charset="0"/>
                <a:cs typeface="Times New Roman" panose="02020603050405020304" pitchFamily="18" charset="0"/>
              </a:rPr>
              <a:t>Research Objectives</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GB" dirty="0">
                <a:solidFill>
                  <a:schemeClr val="tx1"/>
                </a:solidFill>
                <a:latin typeface="Times New Roman" panose="02020603050405020304" pitchFamily="18" charset="0"/>
                <a:cs typeface="Times New Roman" panose="02020603050405020304" pitchFamily="18" charset="0"/>
              </a:rPr>
              <a:t>The research objectives of this study are as follows,</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To outline international market entry strategies discussed in existing qualitative studies </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To examine the influence of global economic conditions on shaping organisational decisions in the context of international market entry strategies </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To explore organisational factors that impacted the selection of international market entry approaches</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To synthesise recurring themes and patterns regarding international market entry strategies with the help of </a:t>
            </a:r>
            <a:r>
              <a:rPr lang="en-GB" dirty="0" err="1">
                <a:solidFill>
                  <a:schemeClr val="tx1"/>
                </a:solidFill>
                <a:latin typeface="Times New Roman" panose="02020603050405020304" pitchFamily="18" charset="0"/>
                <a:cs typeface="Times New Roman" panose="02020603050405020304" pitchFamily="18" charset="0"/>
              </a:rPr>
              <a:t>Nvivo</a:t>
            </a:r>
            <a:r>
              <a:rPr lang="en-GB" dirty="0">
                <a:solidFill>
                  <a:schemeClr val="tx1"/>
                </a:solidFill>
                <a:latin typeface="Times New Roman" panose="02020603050405020304" pitchFamily="18" charset="0"/>
                <a:cs typeface="Times New Roman" panose="02020603050405020304" pitchFamily="18" charset="0"/>
              </a:rPr>
              <a:t>-based analysis</a:t>
            </a:r>
            <a:endParaRPr 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311700" y="165625"/>
            <a:ext cx="8520600" cy="572700"/>
          </a:xfrm>
          <a:prstGeom prst="rect">
            <a:avLst/>
          </a:prstGeom>
        </p:spPr>
        <p:txBody>
          <a:bodyPr spcFirstLastPara="1" wrap="square" lIns="91425" tIns="91425" rIns="91425" bIns="91425" anchor="t" anchorCtr="0">
            <a:noAutofit/>
          </a:bodyPr>
          <a:lstStyle/>
          <a:p>
            <a:pPr lvl="0" algn="ctr">
              <a:lnSpc>
                <a:spcPct val="150000"/>
              </a:lnSpc>
              <a:spcAft>
                <a:spcPts val="1000"/>
              </a:spcAft>
              <a:buSzPts val="1100"/>
            </a:pPr>
            <a:r>
              <a:rPr lang="en-GB" sz="2000" b="1" dirty="0">
                <a:latin typeface="Times New Roman" panose="02020603050405020304" pitchFamily="18" charset="0"/>
                <a:cs typeface="Times New Roman" panose="02020603050405020304" pitchFamily="18" charset="0"/>
              </a:rPr>
              <a:t>SECONDARY DATA SOURCES USED FOR ANALYSIS</a:t>
            </a:r>
            <a:endParaRPr sz="2000" b="1" dirty="0">
              <a:latin typeface="Times New Roman" panose="02020603050405020304" pitchFamily="18" charset="0"/>
              <a:cs typeface="Times New Roman" panose="02020603050405020304" pitchFamily="18" charset="0"/>
            </a:endParaRPr>
          </a:p>
        </p:txBody>
      </p:sp>
      <p:sp>
        <p:nvSpPr>
          <p:cNvPr id="85" name="Google Shape;85;p3"/>
          <p:cNvSpPr txBox="1">
            <a:spLocks noGrp="1"/>
          </p:cNvSpPr>
          <p:nvPr>
            <p:ph type="body" idx="1"/>
          </p:nvPr>
        </p:nvSpPr>
        <p:spPr>
          <a:xfrm>
            <a:off x="311700" y="1228675"/>
            <a:ext cx="3999900" cy="3416400"/>
          </a:xfrm>
          <a:prstGeom prst="rect">
            <a:avLst/>
          </a:prstGeom>
        </p:spPr>
        <p:txBody>
          <a:bodyPr spcFirstLastPara="1" wrap="square" lIns="91425" tIns="91425" rIns="91425" bIns="91425" anchor="t" anchorCtr="0">
            <a:noAutofit/>
          </a:bodyPr>
          <a:lstStyle/>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OECD reports on internationalisation strategies (Organisational analysis and qualitative policy)</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UNCTAD international market entry case documents (Qualitative case-based evidence)</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World Bank Global Trade and Investment Reports (Strategic and institutional qualitative narratives)</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50000"/>
              </a:lnSpc>
            </a:pPr>
            <a:r>
              <a:rPr lang="en-GB" dirty="0">
                <a:solidFill>
                  <a:schemeClr val="tx1"/>
                </a:solidFill>
                <a:latin typeface="Times New Roman" panose="02020603050405020304" pitchFamily="18" charset="0"/>
                <a:cs typeface="Times New Roman" panose="02020603050405020304" pitchFamily="18" charset="0"/>
              </a:rPr>
              <a:t>Peer-reviewed journals and articles available on reliable databases (Emerald, Taylor &amp; Francis, Google Scholar and others)</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NViv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1675" y="1228675"/>
            <a:ext cx="1790700" cy="4191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sing Nvivo for importing and analyzing bibliographical d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0675" y="1751241"/>
            <a:ext cx="2552700" cy="148567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porting bibilographic data from the local system in Nviv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0676" y="3467378"/>
            <a:ext cx="2552700" cy="13074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title"/>
          </p:nvPr>
        </p:nvSpPr>
        <p:spPr>
          <a:xfrm>
            <a:off x="426000" y="0"/>
            <a:ext cx="8520600" cy="572700"/>
          </a:xfrm>
          <a:prstGeom prst="rect">
            <a:avLst/>
          </a:prstGeom>
        </p:spPr>
        <p:txBody>
          <a:bodyPr spcFirstLastPara="1" wrap="square" lIns="91425" tIns="91425" rIns="91425" bIns="91425" anchor="t" anchorCtr="0">
            <a:noAutofit/>
          </a:bodyPr>
          <a:lstStyle/>
          <a:p>
            <a:pPr lvl="0" algn="ctr">
              <a:lnSpc>
                <a:spcPct val="150000"/>
              </a:lnSpc>
              <a:buSzPct val="44000"/>
            </a:pPr>
            <a:r>
              <a:rPr lang="en-GB" sz="2000" b="1" dirty="0">
                <a:solidFill>
                  <a:schemeClr val="tx1"/>
                </a:solidFill>
                <a:latin typeface="Times New Roman" panose="02020603050405020304" pitchFamily="18" charset="0"/>
                <a:cs typeface="Times New Roman" panose="02020603050405020304" pitchFamily="18" charset="0"/>
              </a:rPr>
              <a:t>SECONDARY QUALITATIVE DATA ANALYSIS </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94" name="Google Shape;94;p4"/>
          <p:cNvSpPr txBox="1">
            <a:spLocks noGrp="1"/>
          </p:cNvSpPr>
          <p:nvPr>
            <p:ph type="body" idx="1"/>
          </p:nvPr>
        </p:nvSpPr>
        <p:spPr>
          <a:xfrm>
            <a:off x="4247600" y="987375"/>
            <a:ext cx="4699000" cy="3416400"/>
          </a:xfrm>
          <a:prstGeom prst="rect">
            <a:avLst/>
          </a:prstGeom>
        </p:spPr>
        <p:txBody>
          <a:bodyPr spcFirstLastPara="1" wrap="square" lIns="91425" tIns="91425" rIns="91425" bIns="91425" anchor="t" anchorCtr="0">
            <a:noAutofit/>
          </a:bodyPr>
          <a:lstStyle/>
          <a:p>
            <a:pPr lvl="0" algn="just">
              <a:lnSpc>
                <a:spcPct val="200000"/>
              </a:lnSpc>
            </a:pPr>
            <a:r>
              <a:rPr lang="en-GB" sz="1400" dirty="0">
                <a:solidFill>
                  <a:schemeClr val="tx1"/>
                </a:solidFill>
                <a:latin typeface="Times New Roman" panose="02020603050405020304" pitchFamily="18" charset="0"/>
                <a:cs typeface="Times New Roman" panose="02020603050405020304" pitchFamily="18" charset="0"/>
              </a:rPr>
              <a:t>Secondary qualitative data were systematically imported to </a:t>
            </a: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version 15 for organisation and analysis process</a:t>
            </a:r>
            <a:endParaRPr lang="en-US" sz="1400" dirty="0">
              <a:solidFill>
                <a:schemeClr val="tx1"/>
              </a:solidFill>
              <a:latin typeface="Times New Roman" panose="02020603050405020304" pitchFamily="18" charset="0"/>
              <a:cs typeface="Times New Roman" panose="02020603050405020304" pitchFamily="18" charset="0"/>
            </a:endParaRPr>
          </a:p>
          <a:p>
            <a:pPr lvl="0" algn="just">
              <a:lnSpc>
                <a:spcPct val="200000"/>
              </a:lnSpc>
            </a:pPr>
            <a:r>
              <a:rPr lang="en-GB" sz="1400" dirty="0">
                <a:solidFill>
                  <a:schemeClr val="tx1"/>
                </a:solidFill>
                <a:latin typeface="Times New Roman" panose="02020603050405020304" pitchFamily="18" charset="0"/>
                <a:cs typeface="Times New Roman" panose="02020603050405020304" pitchFamily="18" charset="0"/>
              </a:rPr>
              <a:t>Application of inductive coding in identifying key concepts and recurring patterns (</a:t>
            </a:r>
            <a:r>
              <a:rPr lang="en-GB" sz="1400" dirty="0" err="1">
                <a:solidFill>
                  <a:schemeClr val="tx1"/>
                </a:solidFill>
                <a:latin typeface="Times New Roman" panose="02020603050405020304" pitchFamily="18" charset="0"/>
                <a:cs typeface="Times New Roman" panose="02020603050405020304" pitchFamily="18" charset="0"/>
              </a:rPr>
              <a:t>Kraiwanit</a:t>
            </a:r>
            <a:r>
              <a:rPr lang="en-GB" sz="1400" dirty="0">
                <a:solidFill>
                  <a:schemeClr val="tx1"/>
                </a:solidFill>
                <a:latin typeface="Times New Roman" panose="02020603050405020304" pitchFamily="18" charset="0"/>
                <a:cs typeface="Times New Roman" panose="02020603050405020304" pitchFamily="18" charset="0"/>
              </a:rPr>
              <a:t> </a:t>
            </a:r>
            <a:r>
              <a:rPr lang="en-GB" sz="1400" i="1" dirty="0">
                <a:solidFill>
                  <a:schemeClr val="tx1"/>
                </a:solidFill>
                <a:latin typeface="Times New Roman" panose="02020603050405020304" pitchFamily="18" charset="0"/>
                <a:cs typeface="Times New Roman" panose="02020603050405020304" pitchFamily="18" charset="0"/>
              </a:rPr>
              <a:t>et al</a:t>
            </a:r>
            <a:r>
              <a:rPr lang="en-GB" sz="1400" dirty="0">
                <a:solidFill>
                  <a:schemeClr val="tx1"/>
                </a:solidFill>
                <a:latin typeface="Times New Roman" panose="02020603050405020304" pitchFamily="18" charset="0"/>
                <a:cs typeface="Times New Roman" panose="02020603050405020304" pitchFamily="18" charset="0"/>
              </a:rPr>
              <a:t>., 2023)</a:t>
            </a:r>
            <a:endParaRPr lang="en-US" sz="1400" dirty="0">
              <a:solidFill>
                <a:schemeClr val="tx1"/>
              </a:solidFill>
              <a:latin typeface="Times New Roman" panose="02020603050405020304" pitchFamily="18" charset="0"/>
              <a:cs typeface="Times New Roman" panose="02020603050405020304" pitchFamily="18" charset="0"/>
            </a:endParaRPr>
          </a:p>
          <a:p>
            <a:pPr lvl="0" algn="just">
              <a:lnSpc>
                <a:spcPct val="200000"/>
              </a:lnSpc>
            </a:pP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facilitated efficient data management, theme development, and transparent coding</a:t>
            </a:r>
            <a:endParaRPr lang="en-US" sz="1400" dirty="0">
              <a:solidFill>
                <a:schemeClr val="tx1"/>
              </a:solidFill>
              <a:latin typeface="Times New Roman" panose="02020603050405020304" pitchFamily="18" charset="0"/>
              <a:cs typeface="Times New Roman" panose="02020603050405020304" pitchFamily="18" charset="0"/>
            </a:endParaRPr>
          </a:p>
          <a:p>
            <a:pPr lvl="0" algn="just">
              <a:lnSpc>
                <a:spcPct val="200000"/>
              </a:lnSpc>
            </a:pPr>
            <a:r>
              <a:rPr lang="en-GB" sz="1400" dirty="0">
                <a:solidFill>
                  <a:schemeClr val="tx1"/>
                </a:solidFill>
                <a:latin typeface="Times New Roman" panose="02020603050405020304" pitchFamily="18" charset="0"/>
                <a:cs typeface="Times New Roman" panose="02020603050405020304" pitchFamily="18" charset="0"/>
              </a:rPr>
              <a:t>It enhances the credibility and academic rigour of the analysis process (</a:t>
            </a:r>
            <a:r>
              <a:rPr lang="en-GB" sz="1400" dirty="0" err="1">
                <a:solidFill>
                  <a:schemeClr val="tx1"/>
                </a:solidFill>
                <a:latin typeface="Times New Roman" panose="02020603050405020304" pitchFamily="18" charset="0"/>
                <a:cs typeface="Times New Roman" panose="02020603050405020304" pitchFamily="18" charset="0"/>
              </a:rPr>
              <a:t>Limna</a:t>
            </a:r>
            <a:r>
              <a:rPr lang="en-GB" sz="1400" dirty="0">
                <a:solidFill>
                  <a:schemeClr val="tx1"/>
                </a:solidFill>
                <a:latin typeface="Times New Roman" panose="02020603050405020304" pitchFamily="18" charset="0"/>
                <a:cs typeface="Times New Roman" panose="02020603050405020304" pitchFamily="18" charset="0"/>
              </a:rPr>
              <a:t>, 2023)</a:t>
            </a: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managing the data after importing in Nviv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000" y="1094022"/>
            <a:ext cx="3806825" cy="221870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eparing case nodes for literature review in Nvivo using author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 y="3457241"/>
            <a:ext cx="3340100" cy="1456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311700" y="254525"/>
            <a:ext cx="8520600" cy="572700"/>
          </a:xfrm>
          <a:prstGeom prst="rect">
            <a:avLst/>
          </a:prstGeom>
        </p:spPr>
        <p:txBody>
          <a:bodyPr spcFirstLastPara="1" wrap="square" lIns="91425" tIns="91425" rIns="91425" bIns="91425" anchor="t" anchorCtr="0">
            <a:noAutofit/>
          </a:bodyPr>
          <a:lstStyle/>
          <a:p>
            <a:pPr algn="ctr"/>
            <a:r>
              <a:rPr lang="en-GB" sz="2000" b="1" dirty="0">
                <a:latin typeface="Times New Roman" panose="02020603050405020304" pitchFamily="18" charset="0"/>
                <a:cs typeface="Times New Roman" panose="02020603050405020304" pitchFamily="18" charset="0"/>
              </a:rPr>
              <a:t>USE OF NVIVO IN SECONDARY QUALITATIVE DATA ANALYSIS </a:t>
            </a:r>
            <a:endParaRPr lang="en-US" sz="2000" b="1" dirty="0">
              <a:latin typeface="Times New Roman" panose="02020603050405020304" pitchFamily="18" charset="0"/>
              <a:cs typeface="Times New Roman" panose="02020603050405020304" pitchFamily="18" charset="0"/>
            </a:endParaRPr>
          </a:p>
        </p:txBody>
      </p:sp>
      <p:sp>
        <p:nvSpPr>
          <p:cNvPr id="115" name="Google Shape;115;p6"/>
          <p:cNvSpPr txBox="1">
            <a:spLocks noGrp="1"/>
          </p:cNvSpPr>
          <p:nvPr>
            <p:ph type="body" idx="1"/>
          </p:nvPr>
        </p:nvSpPr>
        <p:spPr>
          <a:xfrm>
            <a:off x="0" y="1051596"/>
            <a:ext cx="9144000" cy="1235125"/>
          </a:xfrm>
          <a:prstGeom prst="rect">
            <a:avLst/>
          </a:prstGeom>
        </p:spPr>
        <p:txBody>
          <a:bodyPr spcFirstLastPara="1" wrap="square" lIns="91425" tIns="91425" rIns="91425" bIns="91425" anchor="t" anchorCtr="0">
            <a:noAutofit/>
          </a:bodyPr>
          <a:lstStyle/>
          <a:p>
            <a:pPr lvl="0" algn="just">
              <a:lnSpc>
                <a:spcPct val="100000"/>
              </a:lnSpc>
            </a:pPr>
            <a:r>
              <a:rPr lang="en-GB" dirty="0" err="1">
                <a:solidFill>
                  <a:schemeClr val="tx1"/>
                </a:solidFill>
                <a:latin typeface="Times New Roman" panose="02020603050405020304" pitchFamily="18" charset="0"/>
                <a:cs typeface="Times New Roman" panose="02020603050405020304" pitchFamily="18" charset="0"/>
              </a:rPr>
              <a:t>NVivo</a:t>
            </a:r>
            <a:r>
              <a:rPr lang="en-GB" dirty="0">
                <a:solidFill>
                  <a:schemeClr val="tx1"/>
                </a:solidFill>
                <a:latin typeface="Times New Roman" panose="02020603050405020304" pitchFamily="18" charset="0"/>
                <a:cs typeface="Times New Roman" panose="02020603050405020304" pitchFamily="18" charset="0"/>
              </a:rPr>
              <a:t> software utilised in coding, organising and managing large volumes of secondary qualitative data</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00000"/>
              </a:lnSpc>
            </a:pPr>
            <a:r>
              <a:rPr lang="en-GB" dirty="0">
                <a:solidFill>
                  <a:schemeClr val="tx1"/>
                </a:solidFill>
                <a:latin typeface="Times New Roman" panose="02020603050405020304" pitchFamily="18" charset="0"/>
                <a:cs typeface="Times New Roman" panose="02020603050405020304" pitchFamily="18" charset="0"/>
              </a:rPr>
              <a:t>Initial codes are formed and refined (</a:t>
            </a:r>
            <a:r>
              <a:rPr lang="en-GB" dirty="0" err="1">
                <a:solidFill>
                  <a:schemeClr val="tx1"/>
                </a:solidFill>
                <a:latin typeface="Times New Roman" panose="02020603050405020304" pitchFamily="18" charset="0"/>
                <a:cs typeface="Times New Roman" panose="02020603050405020304" pitchFamily="18" charset="0"/>
              </a:rPr>
              <a:t>Allsop</a:t>
            </a:r>
            <a:r>
              <a:rPr lang="en-GB" dirty="0">
                <a:solidFill>
                  <a:schemeClr val="tx1"/>
                </a:solidFill>
                <a:latin typeface="Times New Roman" panose="02020603050405020304" pitchFamily="18" charset="0"/>
                <a:cs typeface="Times New Roman" panose="02020603050405020304" pitchFamily="18" charset="0"/>
              </a:rPr>
              <a:t> </a:t>
            </a:r>
            <a:r>
              <a:rPr lang="en-GB" i="1" dirty="0">
                <a:solidFill>
                  <a:schemeClr val="tx1"/>
                </a:solidFill>
                <a:latin typeface="Times New Roman" panose="02020603050405020304" pitchFamily="18" charset="0"/>
                <a:cs typeface="Times New Roman" panose="02020603050405020304" pitchFamily="18" charset="0"/>
              </a:rPr>
              <a:t>et al</a:t>
            </a:r>
            <a:r>
              <a:rPr lang="en-GB" dirty="0">
                <a:solidFill>
                  <a:schemeClr val="tx1"/>
                </a:solidFill>
                <a:latin typeface="Times New Roman" panose="02020603050405020304" pitchFamily="18" charset="0"/>
                <a:cs typeface="Times New Roman" panose="02020603050405020304" pitchFamily="18" charset="0"/>
              </a:rPr>
              <a:t>., 2022)</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00000"/>
              </a:lnSpc>
            </a:pPr>
            <a:r>
              <a:rPr lang="en-GB" dirty="0">
                <a:solidFill>
                  <a:schemeClr val="tx1"/>
                </a:solidFill>
                <a:latin typeface="Times New Roman" panose="02020603050405020304" pitchFamily="18" charset="0"/>
                <a:cs typeface="Times New Roman" panose="02020603050405020304" pitchFamily="18" charset="0"/>
              </a:rPr>
              <a:t>These are to explore key patterns related to international market entry approaches</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00000"/>
              </a:lnSpc>
            </a:pPr>
            <a:r>
              <a:rPr lang="en-GB" dirty="0">
                <a:solidFill>
                  <a:schemeClr val="tx1"/>
                </a:solidFill>
                <a:latin typeface="Times New Roman" panose="02020603050405020304" pitchFamily="18" charset="0"/>
                <a:cs typeface="Times New Roman" panose="02020603050405020304" pitchFamily="18" charset="0"/>
              </a:rPr>
              <a:t>Use of </a:t>
            </a:r>
            <a:r>
              <a:rPr lang="en-GB" dirty="0" err="1">
                <a:solidFill>
                  <a:schemeClr val="tx1"/>
                </a:solidFill>
                <a:latin typeface="Times New Roman" panose="02020603050405020304" pitchFamily="18" charset="0"/>
                <a:cs typeface="Times New Roman" panose="02020603050405020304" pitchFamily="18" charset="0"/>
              </a:rPr>
              <a:t>NVivo</a:t>
            </a:r>
            <a:r>
              <a:rPr lang="en-GB" dirty="0">
                <a:solidFill>
                  <a:schemeClr val="tx1"/>
                </a:solidFill>
                <a:latin typeface="Times New Roman" panose="02020603050405020304" pitchFamily="18" charset="0"/>
                <a:cs typeface="Times New Roman" panose="02020603050405020304" pitchFamily="18" charset="0"/>
              </a:rPr>
              <a:t> software supports consistency and transparency in the analytical process (</a:t>
            </a:r>
            <a:r>
              <a:rPr lang="en-GB" dirty="0" err="1">
                <a:solidFill>
                  <a:schemeClr val="tx1"/>
                </a:solidFill>
                <a:latin typeface="Times New Roman" panose="02020603050405020304" pitchFamily="18" charset="0"/>
                <a:cs typeface="Times New Roman" panose="02020603050405020304" pitchFamily="18" charset="0"/>
              </a:rPr>
              <a:t>Niedbalski</a:t>
            </a:r>
            <a:r>
              <a:rPr lang="en-GB" dirty="0">
                <a:solidFill>
                  <a:schemeClr val="tx1"/>
                </a:solidFill>
                <a:latin typeface="Times New Roman" panose="02020603050405020304" pitchFamily="18" charset="0"/>
                <a:cs typeface="Times New Roman" panose="02020603050405020304" pitchFamily="18" charset="0"/>
              </a:rPr>
              <a:t> and </a:t>
            </a:r>
            <a:r>
              <a:rPr lang="en-GB" dirty="0" err="1">
                <a:solidFill>
                  <a:schemeClr val="tx1"/>
                </a:solidFill>
                <a:latin typeface="Times New Roman" panose="02020603050405020304" pitchFamily="18" charset="0"/>
                <a:cs typeface="Times New Roman" panose="02020603050405020304" pitchFamily="18" charset="0"/>
              </a:rPr>
              <a:t>Ślęzak</a:t>
            </a:r>
            <a:r>
              <a:rPr lang="en-GB" dirty="0">
                <a:solidFill>
                  <a:schemeClr val="tx1"/>
                </a:solidFill>
                <a:latin typeface="Times New Roman" panose="02020603050405020304" pitchFamily="18" charset="0"/>
                <a:cs typeface="Times New Roman" panose="02020603050405020304" pitchFamily="18" charset="0"/>
              </a:rPr>
              <a:t>, 2023)</a:t>
            </a:r>
            <a:endParaRPr lang="en-US" dirty="0">
              <a:solidFill>
                <a:schemeClr val="tx1"/>
              </a:solidFill>
              <a:latin typeface="Times New Roman" panose="02020603050405020304" pitchFamily="18" charset="0"/>
              <a:cs typeface="Times New Roman" panose="02020603050405020304" pitchFamily="18" charset="0"/>
            </a:endParaRPr>
          </a:p>
          <a:p>
            <a:pPr lvl="0" algn="just">
              <a:lnSpc>
                <a:spcPct val="100000"/>
              </a:lnSpc>
            </a:pPr>
            <a:r>
              <a:rPr lang="en-GB" dirty="0">
                <a:solidFill>
                  <a:schemeClr val="tx1"/>
                </a:solidFill>
                <a:latin typeface="Times New Roman" panose="02020603050405020304" pitchFamily="18" charset="0"/>
                <a:cs typeface="Times New Roman" panose="02020603050405020304" pitchFamily="18" charset="0"/>
              </a:rPr>
              <a:t>These are essential in strengthening the validity of the study findings </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889000" y="2286721"/>
            <a:ext cx="6845300" cy="27678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37200" y="0"/>
            <a:ext cx="8806800" cy="5727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1800"/>
              </a:spcAft>
              <a:buClr>
                <a:schemeClr val="dk1"/>
              </a:buClr>
              <a:buSzPts val="1100"/>
              <a:buFont typeface="Arial"/>
              <a:buNone/>
            </a:pPr>
            <a:r>
              <a:rPr lang="en" sz="2400" b="1">
                <a:latin typeface="Times New Roman"/>
                <a:ea typeface="Times New Roman"/>
                <a:cs typeface="Times New Roman"/>
                <a:sym typeface="Times New Roman"/>
              </a:rPr>
              <a:t>REFERENCES</a:t>
            </a:r>
            <a:endParaRPr sz="2400"/>
          </a:p>
        </p:txBody>
      </p:sp>
      <p:sp>
        <p:nvSpPr>
          <p:cNvPr id="185" name="Google Shape;185;p34"/>
          <p:cNvSpPr txBox="1">
            <a:spLocks noGrp="1"/>
          </p:cNvSpPr>
          <p:nvPr>
            <p:ph type="body" idx="1"/>
          </p:nvPr>
        </p:nvSpPr>
        <p:spPr>
          <a:xfrm>
            <a:off x="0" y="927750"/>
            <a:ext cx="9144000" cy="4496400"/>
          </a:xfrm>
          <a:prstGeom prst="rect">
            <a:avLst/>
          </a:prstGeom>
          <a:noFill/>
          <a:ln>
            <a:noFill/>
          </a:ln>
        </p:spPr>
        <p:txBody>
          <a:bodyPr spcFirstLastPara="1" wrap="square" lIns="91425" tIns="91425" rIns="91425" bIns="91425" anchor="t" anchorCtr="0">
            <a:noAutofit/>
          </a:bodyPr>
          <a:lstStyle/>
          <a:p>
            <a:pPr algn="just">
              <a:lnSpc>
                <a:spcPct val="100000"/>
              </a:lnSpc>
              <a:buFont typeface="Arial" panose="020B0604020202020204" pitchFamily="34" charset="0"/>
              <a:buChar char="•"/>
            </a:pPr>
            <a:r>
              <a:rPr lang="en-GB" sz="1400" dirty="0" err="1">
                <a:solidFill>
                  <a:schemeClr val="tx1"/>
                </a:solidFill>
                <a:latin typeface="Times New Roman" panose="02020603050405020304" pitchFamily="18" charset="0"/>
                <a:cs typeface="Times New Roman" panose="02020603050405020304" pitchFamily="18" charset="0"/>
              </a:rPr>
              <a:t>Allsop</a:t>
            </a:r>
            <a:r>
              <a:rPr lang="en-GB" sz="1400" dirty="0">
                <a:solidFill>
                  <a:schemeClr val="tx1"/>
                </a:solidFill>
                <a:latin typeface="Times New Roman" panose="02020603050405020304" pitchFamily="18" charset="0"/>
                <a:cs typeface="Times New Roman" panose="02020603050405020304" pitchFamily="18" charset="0"/>
              </a:rPr>
              <a:t>, D.B., </a:t>
            </a:r>
            <a:r>
              <a:rPr lang="en-GB" sz="1400" dirty="0" err="1">
                <a:solidFill>
                  <a:schemeClr val="tx1"/>
                </a:solidFill>
                <a:latin typeface="Times New Roman" panose="02020603050405020304" pitchFamily="18" charset="0"/>
                <a:cs typeface="Times New Roman" panose="02020603050405020304" pitchFamily="18" charset="0"/>
              </a:rPr>
              <a:t>Chelladurai</a:t>
            </a:r>
            <a:r>
              <a:rPr lang="en-GB" sz="1400" dirty="0">
                <a:solidFill>
                  <a:schemeClr val="tx1"/>
                </a:solidFill>
                <a:latin typeface="Times New Roman" panose="02020603050405020304" pitchFamily="18" charset="0"/>
                <a:cs typeface="Times New Roman" panose="02020603050405020304" pitchFamily="18" charset="0"/>
              </a:rPr>
              <a:t>, J.M., Kimball, E.R., Marks, L.D. and Hendricks, J.J., (2022). Qualitative methods with </a:t>
            </a: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software: A practical guide for analysing qualitative data. Psych, 4(2), pp.142-159. </a:t>
            </a:r>
            <a:r>
              <a:rPr lang="en-GB" sz="1400" u="sng" dirty="0">
                <a:solidFill>
                  <a:schemeClr val="tx1"/>
                </a:solidFill>
                <a:latin typeface="Times New Roman" panose="02020603050405020304" pitchFamily="18" charset="0"/>
                <a:cs typeface="Times New Roman" panose="02020603050405020304" pitchFamily="18" charset="0"/>
                <a:hlinkClick r:id="rId3"/>
              </a:rPr>
              <a:t>https://doi.org/10.3390/psych4020013</a:t>
            </a:r>
            <a:r>
              <a:rPr lang="en-GB" sz="1400" dirty="0">
                <a:solidFill>
                  <a:schemeClr val="tx1"/>
                </a:solidFill>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GB" sz="1400" dirty="0" err="1">
                <a:solidFill>
                  <a:schemeClr val="tx1"/>
                </a:solidFill>
                <a:latin typeface="Times New Roman" panose="02020603050405020304" pitchFamily="18" charset="0"/>
                <a:cs typeface="Times New Roman" panose="02020603050405020304" pitchFamily="18" charset="0"/>
              </a:rPr>
              <a:t>Kraiwanit</a:t>
            </a:r>
            <a:r>
              <a:rPr lang="en-GB" sz="1400" dirty="0">
                <a:solidFill>
                  <a:schemeClr val="tx1"/>
                </a:solidFill>
                <a:latin typeface="Times New Roman" panose="02020603050405020304" pitchFamily="18" charset="0"/>
                <a:cs typeface="Times New Roman" panose="02020603050405020304" pitchFamily="18" charset="0"/>
              </a:rPr>
              <a:t>, T., </a:t>
            </a:r>
            <a:r>
              <a:rPr lang="en-GB" sz="1400" dirty="0" err="1">
                <a:solidFill>
                  <a:schemeClr val="tx1"/>
                </a:solidFill>
                <a:latin typeface="Times New Roman" panose="02020603050405020304" pitchFamily="18" charset="0"/>
                <a:cs typeface="Times New Roman" panose="02020603050405020304" pitchFamily="18" charset="0"/>
              </a:rPr>
              <a:t>Limna</a:t>
            </a:r>
            <a:r>
              <a:rPr lang="en-GB" sz="1400" dirty="0">
                <a:solidFill>
                  <a:schemeClr val="tx1"/>
                </a:solidFill>
                <a:latin typeface="Times New Roman" panose="02020603050405020304" pitchFamily="18" charset="0"/>
                <a:cs typeface="Times New Roman" panose="02020603050405020304" pitchFamily="18" charset="0"/>
              </a:rPr>
              <a:t>, P. and </a:t>
            </a:r>
            <a:r>
              <a:rPr lang="en-GB" sz="1400" dirty="0" err="1">
                <a:solidFill>
                  <a:schemeClr val="tx1"/>
                </a:solidFill>
                <a:latin typeface="Times New Roman" panose="02020603050405020304" pitchFamily="18" charset="0"/>
                <a:cs typeface="Times New Roman" panose="02020603050405020304" pitchFamily="18" charset="0"/>
              </a:rPr>
              <a:t>Siripipatthanakul</a:t>
            </a:r>
            <a:r>
              <a:rPr lang="en-GB" sz="1400" dirty="0">
                <a:solidFill>
                  <a:schemeClr val="tx1"/>
                </a:solidFill>
                <a:latin typeface="Times New Roman" panose="02020603050405020304" pitchFamily="18" charset="0"/>
                <a:cs typeface="Times New Roman" panose="02020603050405020304" pitchFamily="18" charset="0"/>
              </a:rPr>
              <a:t>, S., (2023). </a:t>
            </a: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for social sciences and management studies: A systematic review. Advance Knowledge for Executives, 2(3), pp.1-11. </a:t>
            </a:r>
            <a:r>
              <a:rPr lang="en-GB" sz="1400" u="sng" dirty="0">
                <a:solidFill>
                  <a:schemeClr val="tx1"/>
                </a:solidFill>
                <a:latin typeface="Times New Roman" panose="02020603050405020304" pitchFamily="18" charset="0"/>
                <a:cs typeface="Times New Roman" panose="02020603050405020304" pitchFamily="18" charset="0"/>
                <a:hlinkClick r:id="rId4"/>
              </a:rPr>
              <a:t>https://d1wqtxts1xzle7.cloudfront.net/104584003/AKE_2_3_No._23-libre.pdf?1690550783=&amp;response-content-disposition=inline%3B+filename%3DNVivo_for_Social_Sciences_and_Management.pdf&amp;Expires=1769016357&amp;Signature=BTM2VVXduHb1KiHfXJ9moJALqqc-kgSyKwgrqkb3K~Rwe43VpehRRczY9ZcsX2TBdfK5sfLTz1cgpGkkZneUlJCr8mq7IUb1h52STXbhDOip5ypx~xizQyLbGPu8jD-MheIivS-j--UtCHG6yYVRZGldsW6myoSjoWGS~XqVeZCJKNCpevAREsqDbL-icZqQHbP0dmgIWGi~bp~8K68hAKlkHA8AzF~LohAGTuVatCe0drvZpnJRIrugNZ51cFq6GlKZDqrMCHAZRJKAtR29H9QwsoIhO98TmRBoiWpSBtWPu1fjUTSEoZj68yPBVpsGQy9bSjIF50ZS1jUdtvfcvg__&amp;Key-Pair-Id=APKAJLOHF5GGSLRBV4ZA</a:t>
            </a:r>
            <a:r>
              <a:rPr lang="en-GB" sz="1400" dirty="0">
                <a:solidFill>
                  <a:schemeClr val="tx1"/>
                </a:solidFill>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GB" sz="1400" dirty="0" err="1">
                <a:solidFill>
                  <a:schemeClr val="tx1"/>
                </a:solidFill>
                <a:latin typeface="Times New Roman" panose="02020603050405020304" pitchFamily="18" charset="0"/>
                <a:cs typeface="Times New Roman" panose="02020603050405020304" pitchFamily="18" charset="0"/>
              </a:rPr>
              <a:t>Limna</a:t>
            </a:r>
            <a:r>
              <a:rPr lang="en-GB" sz="1400" dirty="0">
                <a:solidFill>
                  <a:schemeClr val="tx1"/>
                </a:solidFill>
                <a:latin typeface="Times New Roman" panose="02020603050405020304" pitchFamily="18" charset="0"/>
                <a:cs typeface="Times New Roman" panose="02020603050405020304" pitchFamily="18" charset="0"/>
              </a:rPr>
              <a:t>, P. (2023). The impact of </a:t>
            </a: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in qualitative research: Perspectives from graduate students. Journal of Applied Learning and Teaching, 6(2), 271-282. </a:t>
            </a:r>
            <a:r>
              <a:rPr lang="en-GB" sz="1400" u="sng" dirty="0">
                <a:solidFill>
                  <a:schemeClr val="tx1"/>
                </a:solidFill>
                <a:latin typeface="Times New Roman" panose="02020603050405020304" pitchFamily="18" charset="0"/>
                <a:cs typeface="Times New Roman" panose="02020603050405020304" pitchFamily="18" charset="0"/>
                <a:hlinkClick r:id="rId5"/>
              </a:rPr>
              <a:t>https://doi.org/10.37074/jalt.2023.6.2.17</a:t>
            </a:r>
            <a:r>
              <a:rPr lang="en-GB" sz="1400" dirty="0">
                <a:solidFill>
                  <a:schemeClr val="tx1"/>
                </a:solidFill>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GB" sz="1400" dirty="0" err="1">
                <a:solidFill>
                  <a:schemeClr val="tx1"/>
                </a:solidFill>
                <a:latin typeface="Times New Roman" panose="02020603050405020304" pitchFamily="18" charset="0"/>
                <a:cs typeface="Times New Roman" panose="02020603050405020304" pitchFamily="18" charset="0"/>
              </a:rPr>
              <a:t>Niedbalski</a:t>
            </a:r>
            <a:r>
              <a:rPr lang="en-GB" sz="1400" dirty="0">
                <a:solidFill>
                  <a:schemeClr val="tx1"/>
                </a:solidFill>
                <a:latin typeface="Times New Roman" panose="02020603050405020304" pitchFamily="18" charset="0"/>
                <a:cs typeface="Times New Roman" panose="02020603050405020304" pitchFamily="18" charset="0"/>
              </a:rPr>
              <a:t>, J. and </a:t>
            </a:r>
            <a:r>
              <a:rPr lang="en-GB" sz="1400" dirty="0" err="1">
                <a:solidFill>
                  <a:schemeClr val="tx1"/>
                </a:solidFill>
                <a:latin typeface="Times New Roman" panose="02020603050405020304" pitchFamily="18" charset="0"/>
                <a:cs typeface="Times New Roman" panose="02020603050405020304" pitchFamily="18" charset="0"/>
              </a:rPr>
              <a:t>Ślęzak</a:t>
            </a:r>
            <a:r>
              <a:rPr lang="en-GB" sz="1400" dirty="0">
                <a:solidFill>
                  <a:schemeClr val="tx1"/>
                </a:solidFill>
                <a:latin typeface="Times New Roman" panose="02020603050405020304" pitchFamily="18" charset="0"/>
                <a:cs typeface="Times New Roman" panose="02020603050405020304" pitchFamily="18" charset="0"/>
              </a:rPr>
              <a:t>, I., (2023), January. </a:t>
            </a:r>
            <a:r>
              <a:rPr lang="en-GB" sz="1400" dirty="0" err="1">
                <a:solidFill>
                  <a:schemeClr val="tx1"/>
                </a:solidFill>
                <a:latin typeface="Times New Roman" panose="02020603050405020304" pitchFamily="18" charset="0"/>
                <a:cs typeface="Times New Roman" panose="02020603050405020304" pitchFamily="18" charset="0"/>
              </a:rPr>
              <a:t>NVivo</a:t>
            </a:r>
            <a:r>
              <a:rPr lang="en-GB" sz="1400" dirty="0">
                <a:solidFill>
                  <a:schemeClr val="tx1"/>
                </a:solidFill>
                <a:latin typeface="Times New Roman" panose="02020603050405020304" pitchFamily="18" charset="0"/>
                <a:cs typeface="Times New Roman" panose="02020603050405020304" pitchFamily="18" charset="0"/>
              </a:rPr>
              <a:t> as a tool for supporting teamwork in the context of qualitative research conducted remotely: opportunities, limitations, and practical tips. In World Conference on qualitative research (pp. 38-59). Cham: Springer International Publishing. </a:t>
            </a:r>
            <a:r>
              <a:rPr lang="en-GB" sz="1400" u="sng" dirty="0">
                <a:solidFill>
                  <a:schemeClr val="tx1"/>
                </a:solidFill>
                <a:latin typeface="Times New Roman" panose="02020603050405020304" pitchFamily="18" charset="0"/>
                <a:cs typeface="Times New Roman" panose="02020603050405020304" pitchFamily="18" charset="0"/>
                <a:hlinkClick r:id="rId6"/>
              </a:rPr>
              <a:t>https://doi.org/10.1007/978-3-031-31346-2_3</a:t>
            </a:r>
            <a:r>
              <a:rPr lang="en-GB" sz="1400" dirty="0">
                <a:solidFill>
                  <a:schemeClr val="tx1"/>
                </a:solidFill>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p:nvPr/>
        </p:nvSpPr>
        <p:spPr>
          <a:xfrm>
            <a:off x="1059543" y="2177144"/>
            <a:ext cx="703942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4800" b="1" i="0" u="none" strike="noStrike" cap="none">
                <a:solidFill>
                  <a:srgbClr val="000000"/>
                </a:solidFill>
                <a:latin typeface="Times New Roman"/>
                <a:ea typeface="Times New Roman"/>
                <a:cs typeface="Times New Roman"/>
                <a:sym typeface="Times New Roman"/>
              </a:rPr>
              <a:t>THANK YOU</a:t>
            </a:r>
            <a:endParaRPr sz="48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sults_Findings_Analysis_Discussion" id="{265D94F5-96C6-AF45-807E-4D55A1EDDF1C}" vid="{9E9224E4-962F-EC49-8193-02ACF8AF2B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Simple Light</Template>
  <TotalTime>1539</TotalTime>
  <Words>1087</Words>
  <Application>Microsoft Macintosh PowerPoint</Application>
  <PresentationFormat>On-screen Show (16:9)</PresentationFormat>
  <Paragraphs>51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AIM, OBJECTIVES AND RESEARCH QUESTION OF THE STUDY</vt:lpstr>
      <vt:lpstr>SECONDARY DATA SOURCES USED FOR ANALYSIS</vt:lpstr>
      <vt:lpstr>SECONDARY QUALITATIVE DATA ANALYSIS </vt:lpstr>
      <vt:lpstr>USE OF NVIVO IN SECONDARY QUALITATIVE DATA ANALYSIS </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S24013995_Rama_Mangineni_BUS7C4</dc:title>
  <dc:subject/>
  <dc:creator>RAMA MANGINENI</dc:creator>
  <cp:keywords/>
  <dc:description/>
  <cp:lastModifiedBy>RAMA MANGINENI</cp:lastModifiedBy>
  <cp:revision>2</cp:revision>
  <dcterms:created xsi:type="dcterms:W3CDTF">2026-01-21T17:18:32Z</dcterms:created>
  <dcterms:modified xsi:type="dcterms:W3CDTF">2026-01-22T18:59:57Z</dcterms:modified>
  <cp:category/>
</cp:coreProperties>
</file>