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620000" cy="7620000"/>
  <p:notesSz cx="6858000" cy="9144000"/>
  <p:embeddedFontLst>
    <p:embeddedFont>
      <p:font typeface="Times New Roman Bold" panose="02020803070505020304" pitchFamily="18" charset="0"/>
      <p:regular r:id="rId3"/>
      <p:bold r:id="rId4"/>
    </p:embeddedFont>
    <p:embeddedFont>
      <p:font typeface="Times New Roman Italics" panose="02020503050405090304" pitchFamily="18" charset="0"/>
      <p:regular r:id="rId5"/>
      <p: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5" autoAdjust="0"/>
    <p:restoredTop sz="94573" autoAdjust="0"/>
  </p:normalViewPr>
  <p:slideViewPr>
    <p:cSldViewPr>
      <p:cViewPr>
        <p:scale>
          <a:sx n="266" d="100"/>
          <a:sy n="266" d="100"/>
        </p:scale>
        <p:origin x="-2672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www.emerald.com/mrr/article/45/9/1229/305647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hyperlink" Target="https://www.nature.com/articles/s43016-022-00464-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hyperlink" Target="https://journals.sagepub.com/doi/abs/10.1177/16094069241229985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www.cambridge.org/core/journals/journal-of-management-and-organization/article/antecedents-of-risk-and-uncertainty-management-capabilities-insights-from-multinational-enterprises-in-new-zealand/3099A5E049024F0CECB20DDFA397B916" TargetMode="External"/><Relationship Id="rId10" Type="http://schemas.openxmlformats.org/officeDocument/2006/relationships/hyperlink" Target="https://www.researchgate.net/profile/Bryan-Collins-4/publication/388653168_Legal_Challenges_and_Best_Practices_for_Structuring_Corporate_Partnerships_Joint_Ventures_and_Strategic_Alliances/links/67a1196596e7fb48b9b11d4b/Legal-Challenges-and-Best-Practices-for-Structuring-Corporate-Partnerships-Joint-Ventures-and-Strategic-Alliances.pdf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pdfs.semanticscholar.org/b76b/ff29715b465db49a3f2f8b30222f2bea02a8.pdf" TargetMode="External"/><Relationship Id="rId14" Type="http://schemas.openxmlformats.org/officeDocument/2006/relationships/hyperlink" Target="https://cyberleninka.ru/article/n/research-on-adapting-marketing-techniques-to-different-culture-economics-and-regulatory-environment-to-entering-new-internation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8705" y="7455000"/>
            <a:ext cx="6032590" cy="270000"/>
            <a:chOff x="0" y="0"/>
            <a:chExt cx="3177166" cy="142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77166" cy="142200"/>
            </a:xfrm>
            <a:custGeom>
              <a:avLst/>
              <a:gdLst/>
              <a:ahLst/>
              <a:cxnLst/>
              <a:rect l="l" t="t" r="r" b="b"/>
              <a:pathLst>
                <a:path w="3177166" h="142200">
                  <a:moveTo>
                    <a:pt x="61566" y="0"/>
                  </a:moveTo>
                  <a:lnTo>
                    <a:pt x="3115601" y="0"/>
                  </a:lnTo>
                  <a:cubicBezTo>
                    <a:pt x="3149603" y="0"/>
                    <a:pt x="3177166" y="27564"/>
                    <a:pt x="3177166" y="61566"/>
                  </a:cubicBezTo>
                  <a:lnTo>
                    <a:pt x="3177166" y="80634"/>
                  </a:lnTo>
                  <a:cubicBezTo>
                    <a:pt x="3177166" y="96963"/>
                    <a:pt x="3170680" y="112622"/>
                    <a:pt x="3159134" y="124168"/>
                  </a:cubicBezTo>
                  <a:cubicBezTo>
                    <a:pt x="3147588" y="135714"/>
                    <a:pt x="3131929" y="142200"/>
                    <a:pt x="3115601" y="142200"/>
                  </a:cubicBezTo>
                  <a:lnTo>
                    <a:pt x="61566" y="142200"/>
                  </a:lnTo>
                  <a:cubicBezTo>
                    <a:pt x="45237" y="142200"/>
                    <a:pt x="29578" y="135714"/>
                    <a:pt x="18032" y="124168"/>
                  </a:cubicBezTo>
                  <a:cubicBezTo>
                    <a:pt x="6486" y="112622"/>
                    <a:pt x="0" y="96963"/>
                    <a:pt x="0" y="80634"/>
                  </a:cubicBezTo>
                  <a:lnTo>
                    <a:pt x="0" y="61566"/>
                  </a:lnTo>
                  <a:cubicBezTo>
                    <a:pt x="0" y="45237"/>
                    <a:pt x="6486" y="29578"/>
                    <a:pt x="18032" y="18032"/>
                  </a:cubicBezTo>
                  <a:cubicBezTo>
                    <a:pt x="29578" y="6486"/>
                    <a:pt x="45237" y="0"/>
                    <a:pt x="6156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177166" cy="161250"/>
            </a:xfrm>
            <a:prstGeom prst="rect">
              <a:avLst/>
            </a:prstGeom>
          </p:spPr>
          <p:txBody>
            <a:bodyPr lIns="24442" tIns="24442" rIns="24442" bIns="24442" rtlCol="0" anchor="ctr"/>
            <a:lstStyle/>
            <a:p>
              <a:pPr algn="ctr">
                <a:lnSpc>
                  <a:spcPts val="13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795455" y="4305000"/>
            <a:ext cx="4909091" cy="1620000"/>
          </a:xfrm>
          <a:custGeom>
            <a:avLst/>
            <a:gdLst/>
            <a:ahLst/>
            <a:cxnLst/>
            <a:rect l="l" t="t" r="r" b="b"/>
            <a:pathLst>
              <a:path w="4909091" h="1620000">
                <a:moveTo>
                  <a:pt x="0" y="0"/>
                </a:moveTo>
                <a:lnTo>
                  <a:pt x="4909090" y="0"/>
                </a:lnTo>
                <a:lnTo>
                  <a:pt x="4909090" y="1620000"/>
                </a:lnTo>
                <a:lnTo>
                  <a:pt x="0" y="1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-174545" y="5835000"/>
            <a:ext cx="4909091" cy="1620000"/>
          </a:xfrm>
          <a:custGeom>
            <a:avLst/>
            <a:gdLst/>
            <a:ahLst/>
            <a:cxnLst/>
            <a:rect l="l" t="t" r="r" b="b"/>
            <a:pathLst>
              <a:path w="4909091" h="1620000">
                <a:moveTo>
                  <a:pt x="4909090" y="0"/>
                </a:moveTo>
                <a:lnTo>
                  <a:pt x="0" y="0"/>
                </a:lnTo>
                <a:lnTo>
                  <a:pt x="0" y="1620000"/>
                </a:lnTo>
                <a:lnTo>
                  <a:pt x="4909090" y="1620000"/>
                </a:lnTo>
                <a:lnTo>
                  <a:pt x="490909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795455" y="1245000"/>
            <a:ext cx="4909091" cy="1620000"/>
          </a:xfrm>
          <a:custGeom>
            <a:avLst/>
            <a:gdLst/>
            <a:ahLst/>
            <a:cxnLst/>
            <a:rect l="l" t="t" r="r" b="b"/>
            <a:pathLst>
              <a:path w="4909091" h="1620000">
                <a:moveTo>
                  <a:pt x="0" y="0"/>
                </a:moveTo>
                <a:lnTo>
                  <a:pt x="4909090" y="0"/>
                </a:lnTo>
                <a:lnTo>
                  <a:pt x="4909090" y="1620000"/>
                </a:lnTo>
                <a:lnTo>
                  <a:pt x="0" y="1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8602" y="1425000"/>
            <a:ext cx="6996398" cy="1350000"/>
            <a:chOff x="0" y="0"/>
            <a:chExt cx="3432163" cy="6622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32163" cy="662258"/>
            </a:xfrm>
            <a:custGeom>
              <a:avLst/>
              <a:gdLst/>
              <a:ahLst/>
              <a:cxnLst/>
              <a:rect l="l" t="t" r="r" b="b"/>
              <a:pathLst>
                <a:path w="3432163" h="662258">
                  <a:moveTo>
                    <a:pt x="56992" y="0"/>
                  </a:moveTo>
                  <a:lnTo>
                    <a:pt x="3375172" y="0"/>
                  </a:lnTo>
                  <a:cubicBezTo>
                    <a:pt x="3390286" y="0"/>
                    <a:pt x="3404782" y="6004"/>
                    <a:pt x="3415471" y="16692"/>
                  </a:cubicBezTo>
                  <a:cubicBezTo>
                    <a:pt x="3426159" y="27380"/>
                    <a:pt x="3432163" y="41876"/>
                    <a:pt x="3432163" y="56992"/>
                  </a:cubicBezTo>
                  <a:lnTo>
                    <a:pt x="3432163" y="605266"/>
                  </a:lnTo>
                  <a:cubicBezTo>
                    <a:pt x="3432163" y="636742"/>
                    <a:pt x="3406647" y="662258"/>
                    <a:pt x="3375172" y="662258"/>
                  </a:cubicBezTo>
                  <a:lnTo>
                    <a:pt x="56992" y="662258"/>
                  </a:lnTo>
                  <a:cubicBezTo>
                    <a:pt x="25516" y="662258"/>
                    <a:pt x="0" y="636742"/>
                    <a:pt x="0" y="605266"/>
                  </a:cubicBezTo>
                  <a:lnTo>
                    <a:pt x="0" y="56992"/>
                  </a:lnTo>
                  <a:cubicBezTo>
                    <a:pt x="0" y="25516"/>
                    <a:pt x="25516" y="0"/>
                    <a:pt x="56992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3432163" cy="681308"/>
            </a:xfrm>
            <a:prstGeom prst="rect">
              <a:avLst/>
            </a:prstGeom>
          </p:spPr>
          <p:txBody>
            <a:bodyPr lIns="26241" tIns="26241" rIns="26241" bIns="26241" rtlCol="0" anchor="ctr"/>
            <a:lstStyle/>
            <a:p>
              <a:pPr algn="ctr">
                <a:lnSpc>
                  <a:spcPts val="144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-174545" y="2775000"/>
            <a:ext cx="4909091" cy="1620000"/>
          </a:xfrm>
          <a:custGeom>
            <a:avLst/>
            <a:gdLst/>
            <a:ahLst/>
            <a:cxnLst/>
            <a:rect l="l" t="t" r="r" b="b"/>
            <a:pathLst>
              <a:path w="4909091" h="1620000">
                <a:moveTo>
                  <a:pt x="4909090" y="0"/>
                </a:moveTo>
                <a:lnTo>
                  <a:pt x="0" y="0"/>
                </a:lnTo>
                <a:lnTo>
                  <a:pt x="0" y="1620000"/>
                </a:lnTo>
                <a:lnTo>
                  <a:pt x="4909090" y="1620000"/>
                </a:lnTo>
                <a:lnTo>
                  <a:pt x="490909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877590" y="-105000"/>
            <a:ext cx="6044820" cy="1260000"/>
            <a:chOff x="0" y="0"/>
            <a:chExt cx="3177166" cy="6622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77166" cy="662258"/>
            </a:xfrm>
            <a:custGeom>
              <a:avLst/>
              <a:gdLst/>
              <a:ahLst/>
              <a:cxnLst/>
              <a:rect l="l" t="t" r="r" b="b"/>
              <a:pathLst>
                <a:path w="3177166" h="662258">
                  <a:moveTo>
                    <a:pt x="7859" y="0"/>
                  </a:moveTo>
                  <a:lnTo>
                    <a:pt x="3169307" y="0"/>
                  </a:lnTo>
                  <a:cubicBezTo>
                    <a:pt x="3173648" y="0"/>
                    <a:pt x="3177166" y="3519"/>
                    <a:pt x="3177166" y="7859"/>
                  </a:cubicBezTo>
                  <a:lnTo>
                    <a:pt x="3177166" y="654398"/>
                  </a:lnTo>
                  <a:cubicBezTo>
                    <a:pt x="3177166" y="658739"/>
                    <a:pt x="3173648" y="662258"/>
                    <a:pt x="3169307" y="662258"/>
                  </a:cubicBezTo>
                  <a:lnTo>
                    <a:pt x="7859" y="662258"/>
                  </a:lnTo>
                  <a:cubicBezTo>
                    <a:pt x="3519" y="662258"/>
                    <a:pt x="0" y="658739"/>
                    <a:pt x="0" y="654398"/>
                  </a:cubicBezTo>
                  <a:lnTo>
                    <a:pt x="0" y="7859"/>
                  </a:lnTo>
                  <a:cubicBezTo>
                    <a:pt x="0" y="3519"/>
                    <a:pt x="3519" y="0"/>
                    <a:pt x="78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90057">
                    <a:alpha val="100000"/>
                  </a:srgbClr>
                </a:gs>
                <a:gs pos="50000">
                  <a:srgbClr val="1100A4">
                    <a:alpha val="100000"/>
                  </a:srgbClr>
                </a:gs>
                <a:gs pos="100000">
                  <a:srgbClr val="06003B">
                    <a:alpha val="100000"/>
                  </a:srgbClr>
                </a:gs>
              </a:gsLst>
              <a:lin ang="2700000"/>
            </a:gra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3177166" cy="681308"/>
            </a:xfrm>
            <a:prstGeom prst="rect">
              <a:avLst/>
            </a:prstGeom>
          </p:spPr>
          <p:txBody>
            <a:bodyPr lIns="24491" tIns="24491" rIns="24491" bIns="24491" rtlCol="0" anchor="ctr"/>
            <a:lstStyle/>
            <a:p>
              <a:pPr algn="ctr">
                <a:lnSpc>
                  <a:spcPts val="134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5185909" y="-195000"/>
            <a:ext cx="3818182" cy="1260000"/>
          </a:xfrm>
          <a:custGeom>
            <a:avLst/>
            <a:gdLst/>
            <a:ahLst/>
            <a:cxnLst/>
            <a:rect l="l" t="t" r="r" b="b"/>
            <a:pathLst>
              <a:path w="3818182" h="1260000">
                <a:moveTo>
                  <a:pt x="0" y="0"/>
                </a:moveTo>
                <a:lnTo>
                  <a:pt x="3818182" y="0"/>
                </a:lnTo>
                <a:lnTo>
                  <a:pt x="3818182" y="1260000"/>
                </a:lnTo>
                <a:lnTo>
                  <a:pt x="0" y="12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flipH="1">
            <a:off x="0" y="-105000"/>
            <a:ext cx="2387727" cy="1170000"/>
          </a:xfrm>
          <a:custGeom>
            <a:avLst/>
            <a:gdLst/>
            <a:ahLst/>
            <a:cxnLst/>
            <a:rect l="l" t="t" r="r" b="b"/>
            <a:pathLst>
              <a:path w="2387727" h="1170000">
                <a:moveTo>
                  <a:pt x="2387727" y="0"/>
                </a:moveTo>
                <a:lnTo>
                  <a:pt x="0" y="0"/>
                </a:lnTo>
                <a:lnTo>
                  <a:pt x="0" y="1170000"/>
                </a:lnTo>
                <a:lnTo>
                  <a:pt x="2387727" y="1170000"/>
                </a:lnTo>
                <a:lnTo>
                  <a:pt x="2387727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r="-484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855845" y="2955000"/>
            <a:ext cx="5676082" cy="1216650"/>
            <a:chOff x="0" y="0"/>
            <a:chExt cx="2784467" cy="5968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84467" cy="596841"/>
            </a:xfrm>
            <a:custGeom>
              <a:avLst/>
              <a:gdLst/>
              <a:ahLst/>
              <a:cxnLst/>
              <a:rect l="l" t="t" r="r" b="b"/>
              <a:pathLst>
                <a:path w="2784467" h="596841">
                  <a:moveTo>
                    <a:pt x="70248" y="0"/>
                  </a:moveTo>
                  <a:lnTo>
                    <a:pt x="2714218" y="0"/>
                  </a:lnTo>
                  <a:cubicBezTo>
                    <a:pt x="2732849" y="0"/>
                    <a:pt x="2750717" y="7401"/>
                    <a:pt x="2763891" y="20575"/>
                  </a:cubicBezTo>
                  <a:cubicBezTo>
                    <a:pt x="2777066" y="33749"/>
                    <a:pt x="2784467" y="51617"/>
                    <a:pt x="2784467" y="70248"/>
                  </a:cubicBezTo>
                  <a:lnTo>
                    <a:pt x="2784467" y="526593"/>
                  </a:lnTo>
                  <a:cubicBezTo>
                    <a:pt x="2784467" y="545224"/>
                    <a:pt x="2777066" y="563092"/>
                    <a:pt x="2763891" y="576266"/>
                  </a:cubicBezTo>
                  <a:cubicBezTo>
                    <a:pt x="2750717" y="589440"/>
                    <a:pt x="2732849" y="596841"/>
                    <a:pt x="2714218" y="596841"/>
                  </a:cubicBezTo>
                  <a:lnTo>
                    <a:pt x="70248" y="596841"/>
                  </a:lnTo>
                  <a:cubicBezTo>
                    <a:pt x="51617" y="596841"/>
                    <a:pt x="33749" y="589440"/>
                    <a:pt x="20575" y="576266"/>
                  </a:cubicBezTo>
                  <a:cubicBezTo>
                    <a:pt x="7401" y="563092"/>
                    <a:pt x="0" y="545224"/>
                    <a:pt x="0" y="526593"/>
                  </a:cubicBezTo>
                  <a:lnTo>
                    <a:pt x="0" y="70248"/>
                  </a:lnTo>
                  <a:cubicBezTo>
                    <a:pt x="0" y="51617"/>
                    <a:pt x="7401" y="33749"/>
                    <a:pt x="20575" y="20575"/>
                  </a:cubicBezTo>
                  <a:cubicBezTo>
                    <a:pt x="33749" y="7401"/>
                    <a:pt x="51617" y="0"/>
                    <a:pt x="70248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784467" cy="615891"/>
            </a:xfrm>
            <a:prstGeom prst="rect">
              <a:avLst/>
            </a:prstGeom>
          </p:spPr>
          <p:txBody>
            <a:bodyPr lIns="26241" tIns="26241" rIns="26241" bIns="26241" rtlCol="0" anchor="ctr"/>
            <a:lstStyle/>
            <a:p>
              <a:pPr algn="ctr">
                <a:lnSpc>
                  <a:spcPts val="144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8602" y="4228800"/>
            <a:ext cx="5500205" cy="1606200"/>
            <a:chOff x="0" y="0"/>
            <a:chExt cx="2698188" cy="7879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98188" cy="787940"/>
            </a:xfrm>
            <a:custGeom>
              <a:avLst/>
              <a:gdLst/>
              <a:ahLst/>
              <a:cxnLst/>
              <a:rect l="l" t="t" r="r" b="b"/>
              <a:pathLst>
                <a:path w="2698188" h="787940">
                  <a:moveTo>
                    <a:pt x="72495" y="0"/>
                  </a:moveTo>
                  <a:lnTo>
                    <a:pt x="2625694" y="0"/>
                  </a:lnTo>
                  <a:cubicBezTo>
                    <a:pt x="2644921" y="0"/>
                    <a:pt x="2663360" y="7638"/>
                    <a:pt x="2676955" y="21233"/>
                  </a:cubicBezTo>
                  <a:cubicBezTo>
                    <a:pt x="2690551" y="34829"/>
                    <a:pt x="2698188" y="53268"/>
                    <a:pt x="2698188" y="72495"/>
                  </a:cubicBezTo>
                  <a:lnTo>
                    <a:pt x="2698188" y="715445"/>
                  </a:lnTo>
                  <a:cubicBezTo>
                    <a:pt x="2698188" y="734672"/>
                    <a:pt x="2690551" y="753111"/>
                    <a:pt x="2676955" y="766706"/>
                  </a:cubicBezTo>
                  <a:cubicBezTo>
                    <a:pt x="2663360" y="780302"/>
                    <a:pt x="2644921" y="787940"/>
                    <a:pt x="2625694" y="787940"/>
                  </a:cubicBezTo>
                  <a:lnTo>
                    <a:pt x="72495" y="787940"/>
                  </a:lnTo>
                  <a:cubicBezTo>
                    <a:pt x="32457" y="787940"/>
                    <a:pt x="0" y="755483"/>
                    <a:pt x="0" y="715445"/>
                  </a:cubicBezTo>
                  <a:lnTo>
                    <a:pt x="0" y="72495"/>
                  </a:lnTo>
                  <a:cubicBezTo>
                    <a:pt x="0" y="32457"/>
                    <a:pt x="32457" y="0"/>
                    <a:pt x="72495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698188" cy="806990"/>
            </a:xfrm>
            <a:prstGeom prst="rect">
              <a:avLst/>
            </a:prstGeom>
          </p:spPr>
          <p:txBody>
            <a:bodyPr lIns="26241" tIns="26241" rIns="26241" bIns="26241" rtlCol="0" anchor="ctr"/>
            <a:lstStyle/>
            <a:p>
              <a:pPr algn="just">
                <a:lnSpc>
                  <a:spcPts val="88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05809" y="6015000"/>
            <a:ext cx="5908382" cy="1350000"/>
            <a:chOff x="0" y="0"/>
            <a:chExt cx="2898424" cy="66225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98424" cy="662258"/>
            </a:xfrm>
            <a:custGeom>
              <a:avLst/>
              <a:gdLst/>
              <a:ahLst/>
              <a:cxnLst/>
              <a:rect l="l" t="t" r="r" b="b"/>
              <a:pathLst>
                <a:path w="2898424" h="662258">
                  <a:moveTo>
                    <a:pt x="67486" y="0"/>
                  </a:moveTo>
                  <a:lnTo>
                    <a:pt x="2830938" y="0"/>
                  </a:lnTo>
                  <a:cubicBezTo>
                    <a:pt x="2868209" y="0"/>
                    <a:pt x="2898424" y="30215"/>
                    <a:pt x="2898424" y="67486"/>
                  </a:cubicBezTo>
                  <a:lnTo>
                    <a:pt x="2898424" y="594771"/>
                  </a:lnTo>
                  <a:cubicBezTo>
                    <a:pt x="2898424" y="612670"/>
                    <a:pt x="2891314" y="629835"/>
                    <a:pt x="2878658" y="642492"/>
                  </a:cubicBezTo>
                  <a:cubicBezTo>
                    <a:pt x="2866002" y="655148"/>
                    <a:pt x="2848836" y="662258"/>
                    <a:pt x="2830938" y="662258"/>
                  </a:cubicBezTo>
                  <a:lnTo>
                    <a:pt x="67486" y="662258"/>
                  </a:lnTo>
                  <a:cubicBezTo>
                    <a:pt x="49588" y="662258"/>
                    <a:pt x="32422" y="655148"/>
                    <a:pt x="19766" y="642492"/>
                  </a:cubicBezTo>
                  <a:cubicBezTo>
                    <a:pt x="7110" y="629835"/>
                    <a:pt x="0" y="612670"/>
                    <a:pt x="0" y="594771"/>
                  </a:cubicBezTo>
                  <a:lnTo>
                    <a:pt x="0" y="67486"/>
                  </a:lnTo>
                  <a:cubicBezTo>
                    <a:pt x="0" y="49588"/>
                    <a:pt x="7110" y="32422"/>
                    <a:pt x="19766" y="19766"/>
                  </a:cubicBezTo>
                  <a:cubicBezTo>
                    <a:pt x="32422" y="7110"/>
                    <a:pt x="49588" y="0"/>
                    <a:pt x="67486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898424" cy="681308"/>
            </a:xfrm>
            <a:prstGeom prst="rect">
              <a:avLst/>
            </a:prstGeom>
          </p:spPr>
          <p:txBody>
            <a:bodyPr lIns="26241" tIns="26241" rIns="26241" bIns="26241" rtlCol="0" anchor="ctr"/>
            <a:lstStyle/>
            <a:p>
              <a:pPr algn="ctr">
                <a:lnSpc>
                  <a:spcPts val="144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442417" y="1299326"/>
            <a:ext cx="1558563" cy="360484"/>
          </a:xfrm>
          <a:custGeom>
            <a:avLst/>
            <a:gdLst/>
            <a:ahLst/>
            <a:cxnLst/>
            <a:rect l="l" t="t" r="r" b="b"/>
            <a:pathLst>
              <a:path w="1558563" h="360484">
                <a:moveTo>
                  <a:pt x="0" y="0"/>
                </a:moveTo>
                <a:lnTo>
                  <a:pt x="1558563" y="0"/>
                </a:lnTo>
                <a:lnTo>
                  <a:pt x="1558563" y="360484"/>
                </a:lnTo>
                <a:lnTo>
                  <a:pt x="0" y="360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5154741" y="1575803"/>
            <a:ext cx="1840470" cy="1048394"/>
          </a:xfrm>
          <a:custGeom>
            <a:avLst/>
            <a:gdLst/>
            <a:ahLst/>
            <a:cxnLst/>
            <a:rect l="l" t="t" r="r" b="b"/>
            <a:pathLst>
              <a:path w="1840470" h="1048394">
                <a:moveTo>
                  <a:pt x="0" y="0"/>
                </a:moveTo>
                <a:lnTo>
                  <a:pt x="1840470" y="0"/>
                </a:lnTo>
                <a:lnTo>
                  <a:pt x="1840470" y="1048394"/>
                </a:lnTo>
                <a:lnTo>
                  <a:pt x="0" y="1048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15" b="-11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310656" y="1707435"/>
            <a:ext cx="1822084" cy="877065"/>
          </a:xfrm>
          <a:custGeom>
            <a:avLst/>
            <a:gdLst/>
            <a:ahLst/>
            <a:cxnLst/>
            <a:rect l="l" t="t" r="r" b="b"/>
            <a:pathLst>
              <a:path w="1822084" h="877065">
                <a:moveTo>
                  <a:pt x="0" y="0"/>
                </a:moveTo>
                <a:lnTo>
                  <a:pt x="1822084" y="0"/>
                </a:lnTo>
                <a:lnTo>
                  <a:pt x="1822084" y="877065"/>
                </a:lnTo>
                <a:lnTo>
                  <a:pt x="0" y="8770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13" b="-56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0" y="2988467"/>
            <a:ext cx="1855845" cy="1158261"/>
          </a:xfrm>
          <a:custGeom>
            <a:avLst/>
            <a:gdLst/>
            <a:ahLst/>
            <a:cxnLst/>
            <a:rect l="l" t="t" r="r" b="b"/>
            <a:pathLst>
              <a:path w="1855845" h="1158261">
                <a:moveTo>
                  <a:pt x="0" y="0"/>
                </a:moveTo>
                <a:lnTo>
                  <a:pt x="1855845" y="0"/>
                </a:lnTo>
                <a:lnTo>
                  <a:pt x="1855845" y="1158261"/>
                </a:lnTo>
                <a:lnTo>
                  <a:pt x="0" y="115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69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5632519" y="4617704"/>
            <a:ext cx="1899407" cy="828391"/>
          </a:xfrm>
          <a:custGeom>
            <a:avLst/>
            <a:gdLst/>
            <a:ahLst/>
            <a:cxnLst/>
            <a:rect l="l" t="t" r="r" b="b"/>
            <a:pathLst>
              <a:path w="1899407" h="828391">
                <a:moveTo>
                  <a:pt x="0" y="0"/>
                </a:moveTo>
                <a:lnTo>
                  <a:pt x="1899408" y="0"/>
                </a:lnTo>
                <a:lnTo>
                  <a:pt x="1899408" y="828392"/>
                </a:lnTo>
                <a:lnTo>
                  <a:pt x="0" y="8283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679562" y="6227725"/>
            <a:ext cx="5101733" cy="109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Adesina, A.A., Iyelolu, T.V. and Paul, P.O., (2024). Leveraging predictive analytics for strategic decision-making: Enhancing business performance through data-driven insights. World Journal of Advanced Research and Reviews, 22(3), pp.1927-1934.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 tooltip="https://pdfs.semanticscholar.org/b76b/ff29715b465db49a3f2f8b30222f2bea02a8.pdf"/>
              </a:rPr>
              <a:t>https://pdfs.semanticscholar.org/b76b/ff29715b465db49a3f2f8b30222f2bea02a8.pdf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Akinsola, O.K., Taofeek, A. and Kingsley Onu, D.Y.O., (2025). Legal Challenges and Best Practices for Structuring Corporate Partnerships, Joint Ventures, and Strategic Alliances.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 tooltip="https://www.researchgate.net/profile/Bryan-Collins-4/publication/388653168_Legal_Challenges_and_Best_Practices_for_Structuring_Corporate_Partnerships_Joint_Ventures_and_Strategic_Alliances/links/67a1196596e7fb48b9b11d4b/Legal-Challenges-and-Best-Practices-for-Structuring-Corporate-Partnerships-Joint-Ventures-and-Strategic-Alliances.pdf"/>
              </a:rPr>
              <a:t>https://www.researchgate.net/profile/Bryan-Collins-4/publication/388653168_Legal_Challenges_and_Best_Practices_for_Structuring_Corporate_Partnerships_Joint_Ventures_and_Strategic_Alliances/links/67a1196596e7fb48b9b11d4b/Legal-Challenges-and-Best-Practices-for-Structuring-Corporate-Partnerships-Joint-Ventures-and-Strategic-Alliances.pdf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Causer, H., Spiers, J. and Riley, R., (2024). A method for synthesizing qualitative data sources in the co-production of postvention guidelines for the NHS: a worked example. International Journal of Qualitative Methods, 23, p.16094069241229985.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 tooltip="https://journals.sagepub.com/doi/abs/10.1177/16094069241229985"/>
              </a:rPr>
              <a:t>https://journals.sagepub.com/doi/abs/10.1177/16094069241229985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Fujimori, S., Wu, W., Doelman, J., Frank, S., Hristov, J., Kyle, P., Sands, R., Van Zeist, W.J., Havlik, P., Domínguez, I.P. and Sahoo, A., (2022). Land-based climate change mitigation measures can affect agricultural markets and food security. Nature Food, 3(2), pp.110-121.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 tooltip="https://www.nature.com/articles/s43016-022-00464-4"/>
              </a:rPr>
              <a:t>https://www.nature.com/articles/s43016-022-00464-4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Guercini, S. and Milanesi, M., (2022). Foreign market entry decision-making and heuristics: a mapping of the literature and future avenues. Management Research Review, 45(9), pp.1229-1246.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 tooltip="https://www.emerald.com/mrr/article/45/9/1229/305647"/>
              </a:rPr>
              <a:t>https://www.emerald.com/mrr/article/45/9/1229/305647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Hasan, M.M., Rayhan, Z., Mukta, R.T. and Faruq, O., (2024). Research on adapting marketing techniques to different culture economics and regulatory environment to entering new international markets. Информатика. Экономика. Управление/Informatics. Economics. Management, 3(4), pp.0257-0277.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 tooltip="https://cyberleninka.ru/article/n/research-on-adapting-marketing-techniques-to-different-culture-economics-and-regulatory-environment-to-entering-new-international"/>
              </a:rPr>
              <a:t>https://cyberleninka.ru/article/n/research-on-adapting-marketing-techniques-to-different-culture-economics-and-regulatory-environment-to-entering-new-international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Zámborský, P., Sullivan-Taylor, B., Tisch, D. and Branicki, L., (2022). Antecedents of risk and uncertainty management capabilities: Insights from multinational enterprises in New Zealand. Journal of Management &amp; Organization, 28(3), pp.632-658.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5" tooltip="https://www.cambridge.org/core/journals/journal-of-management-and-organization/article/antecedents-of-risk-and-uncertainty-management-capabilities-insights-from-multinational-enterprises-in-new-zealand/3099A5E049024F0CECB20DDFA397B916"/>
              </a:rPr>
              <a:t>https://www.cambridge.org/core/journals/journal-of-management-and-organization/article/antecedents-of-risk-and-uncertainty-management-capabilities-insights-from-multinational-enterprises-in-new-zealand/3099A5E049024F0CECB20DDFA397B916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88811" y="6033656"/>
            <a:ext cx="536918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55845" y="1422469"/>
            <a:ext cx="2374584" cy="28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"/>
              </a:lnSpc>
            </a:pPr>
            <a:r>
              <a:rPr lang="en-US" sz="820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FOCUS</a:t>
            </a:r>
          </a:p>
          <a:p>
            <a:pPr algn="ctr">
              <a:lnSpc>
                <a:spcPts val="1148"/>
              </a:lnSpc>
            </a:pPr>
            <a:endParaRPr lang="en-US" sz="820" b="1">
              <a:solidFill>
                <a:srgbClr val="1300B3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306061" y="1602711"/>
            <a:ext cx="2671391" cy="38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12"/>
              </a:lnSpc>
            </a:pPr>
            <a:r>
              <a:rPr lang="en-US" sz="72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</a:t>
            </a:r>
            <a:r>
              <a:rPr lang="en-US" sz="723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organisations</a:t>
            </a:r>
            <a:r>
              <a:rPr lang="en-US" sz="72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approach international market entry in the global economy?</a:t>
            </a:r>
          </a:p>
          <a:p>
            <a:pPr algn="just">
              <a:lnSpc>
                <a:spcPts val="1012"/>
              </a:lnSpc>
            </a:pPr>
            <a:r>
              <a:rPr lang="en-US" sz="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96604" y="3179360"/>
            <a:ext cx="2310887" cy="87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3510" lvl="1" indent="-86755" algn="just">
              <a:lnSpc>
                <a:spcPts val="1800"/>
              </a:lnSpc>
              <a:buFont typeface="Arial"/>
              <a:buChar char="•"/>
            </a:pPr>
            <a:r>
              <a:rPr lang="en-US" sz="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OECD internationalisation reports </a:t>
            </a:r>
          </a:p>
          <a:p>
            <a:pPr marL="173510" lvl="1" indent="-86755" algn="just">
              <a:lnSpc>
                <a:spcPts val="1800"/>
              </a:lnSpc>
              <a:buFont typeface="Arial"/>
              <a:buChar char="•"/>
            </a:pPr>
            <a:r>
              <a:rPr lang="en-US" sz="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UNCTAD case studies</a:t>
            </a:r>
          </a:p>
          <a:p>
            <a:pPr marL="173510" lvl="1" indent="-86755" algn="just">
              <a:lnSpc>
                <a:spcPts val="1800"/>
              </a:lnSpc>
              <a:buFont typeface="Arial"/>
              <a:buChar char="•"/>
            </a:pPr>
            <a:r>
              <a:rPr lang="en-US" sz="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Bank Trade and Investment Reports</a:t>
            </a:r>
          </a:p>
          <a:p>
            <a:pPr marL="173510" lvl="1" indent="-86755" algn="just">
              <a:lnSpc>
                <a:spcPts val="1800"/>
              </a:lnSpc>
              <a:buFont typeface="Arial"/>
              <a:buChar char="•"/>
            </a:pPr>
            <a:r>
              <a:rPr lang="en-US" sz="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Peer-reviewed journals studies (Causer </a:t>
            </a:r>
            <a:r>
              <a:rPr lang="en-US" sz="803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et al.</a:t>
            </a:r>
            <a:r>
              <a:rPr lang="en-US" sz="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85909" y="2959892"/>
            <a:ext cx="1809302" cy="14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"/>
              </a:lnSpc>
            </a:pPr>
            <a:r>
              <a:rPr lang="en-US" sz="820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 (THEME)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07491" y="3106425"/>
            <a:ext cx="3037163" cy="11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4482" lvl="1" indent="-92241" algn="l">
              <a:lnSpc>
                <a:spcPts val="1196"/>
              </a:lnSpc>
              <a:buFont typeface="Arial"/>
              <a:buChar char="•"/>
            </a:pP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economic conditions influence entry strategy selection</a:t>
            </a:r>
          </a:p>
          <a:p>
            <a:pPr marL="184482" lvl="1" indent="-92241" algn="l">
              <a:lnSpc>
                <a:spcPts val="1196"/>
              </a:lnSpc>
              <a:buFont typeface="Arial"/>
              <a:buChar char="•"/>
            </a:pP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Organisational prefer low-risk entry modes under economic uncertainties (Zámborský </a:t>
            </a:r>
            <a:r>
              <a:rPr lang="en-US" sz="854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et al., </a:t>
            </a: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2022)</a:t>
            </a:r>
          </a:p>
          <a:p>
            <a:pPr marL="184482" lvl="1" indent="-92241" algn="l">
              <a:lnSpc>
                <a:spcPts val="1196"/>
              </a:lnSpc>
              <a:buFont typeface="Arial"/>
              <a:buChar char="•"/>
            </a:pP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Organisational capabilities and resources shapes market entry decisions</a:t>
            </a:r>
          </a:p>
          <a:p>
            <a:pPr marL="184482" lvl="1" indent="-92241" algn="l">
              <a:lnSpc>
                <a:spcPts val="1196"/>
              </a:lnSpc>
              <a:buFont typeface="Arial"/>
              <a:buChar char="•"/>
            </a:pP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Regulatory and institutional environments affect strategy choices (Adesina </a:t>
            </a:r>
            <a:r>
              <a:rPr lang="en-US" sz="854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et al., </a:t>
            </a: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2024)</a:t>
            </a:r>
          </a:p>
          <a:p>
            <a:pPr algn="l">
              <a:lnSpc>
                <a:spcPts val="1196"/>
              </a:lnSpc>
            </a:pPr>
            <a:endParaRPr lang="en-US" sz="85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211766" y="2959892"/>
            <a:ext cx="2220887" cy="28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1"/>
              </a:lnSpc>
            </a:pPr>
            <a:r>
              <a:rPr lang="en-US" sz="822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SECONDARY DATA SOURCES USED FOR DATA ANALYSIS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1195" y="865950"/>
            <a:ext cx="5926805" cy="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"/>
              </a:lnSpc>
            </a:pPr>
            <a:r>
              <a:rPr lang="en-US" sz="534" b="1">
                <a:solidFill>
                  <a:srgbClr val="E6E5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NAME: RAMA KOTESWARA RAO MANGINENI</a:t>
            </a:r>
          </a:p>
          <a:p>
            <a:pPr algn="ctr">
              <a:lnSpc>
                <a:spcPts val="748"/>
              </a:lnSpc>
            </a:pPr>
            <a:r>
              <a:rPr lang="en-US" sz="534" b="1">
                <a:solidFill>
                  <a:srgbClr val="E6E5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ID: S24013995</a:t>
            </a:r>
          </a:p>
          <a:p>
            <a:pPr algn="ctr">
              <a:lnSpc>
                <a:spcPts val="748"/>
              </a:lnSpc>
            </a:pPr>
            <a:endParaRPr lang="en-US" sz="534" b="1">
              <a:solidFill>
                <a:srgbClr val="E6E5E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931195" y="36900"/>
            <a:ext cx="5926805" cy="96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7"/>
              </a:lnSpc>
            </a:pPr>
            <a:r>
              <a:rPr lang="en-US" sz="1119" b="1" dirty="0">
                <a:solidFill>
                  <a:srgbClr val="E6E5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BUS7C4 SUPERVISION SESSION</a:t>
            </a:r>
          </a:p>
          <a:p>
            <a:pPr algn="ctr">
              <a:lnSpc>
                <a:spcPts val="1567"/>
              </a:lnSpc>
            </a:pPr>
            <a:r>
              <a:rPr lang="en-US" sz="1119" b="1" dirty="0">
                <a:solidFill>
                  <a:srgbClr val="E6E5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LECTURE RESULTS/FINDINGS, ANALYSIS AND DISCUSSION </a:t>
            </a:r>
          </a:p>
          <a:p>
            <a:pPr algn="ctr">
              <a:lnSpc>
                <a:spcPts val="1567"/>
              </a:lnSpc>
            </a:pPr>
            <a:r>
              <a:rPr lang="en-US" sz="1119" b="1" dirty="0">
                <a:solidFill>
                  <a:srgbClr val="E6E5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EXPLORING ORGANISATIONAL APPROACHES TO INTERNATIONAL MARKET ENTRY UNDER THE GLOBAL ECONOMY </a:t>
            </a:r>
          </a:p>
          <a:p>
            <a:pPr algn="ctr">
              <a:lnSpc>
                <a:spcPts val="1567"/>
              </a:lnSpc>
            </a:pPr>
            <a:endParaRPr lang="en-US" sz="1119" b="1" dirty="0">
              <a:solidFill>
                <a:srgbClr val="E6E5E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306061" y="1912125"/>
            <a:ext cx="2790104" cy="44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1"/>
              </a:lnSpc>
            </a:pPr>
            <a:r>
              <a:rPr lang="en-US" sz="822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OF NVIVO FOR SECONDARY QUALITATIVE DATA ANALYSIS</a:t>
            </a:r>
          </a:p>
          <a:p>
            <a:pPr algn="ctr">
              <a:lnSpc>
                <a:spcPts val="1151"/>
              </a:lnSpc>
            </a:pPr>
            <a:endParaRPr lang="en-US" sz="822" b="1">
              <a:solidFill>
                <a:srgbClr val="1300B3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306061" y="2356996"/>
            <a:ext cx="2743480" cy="38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12"/>
              </a:lnSpc>
            </a:pPr>
            <a:r>
              <a:rPr lang="en-US" sz="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qualitative data analysed through NVivo 15with inductive thematic coding</a:t>
            </a:r>
          </a:p>
          <a:p>
            <a:pPr algn="just">
              <a:lnSpc>
                <a:spcPts val="1012"/>
              </a:lnSpc>
            </a:pPr>
            <a:endParaRPr lang="en-US" sz="72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5592" y="4248399"/>
            <a:ext cx="4784408" cy="146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"/>
              </a:lnSpc>
              <a:spcBef>
                <a:spcPct val="0"/>
              </a:spcBef>
            </a:pPr>
            <a:r>
              <a:rPr lang="en-US" sz="820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 AND DISCUSSION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2178" y="4409419"/>
            <a:ext cx="5416629" cy="1461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·Organisations adjust international market entry strategies in response to different level of global economic stability (Hasan et al., 2024)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·These are through prioritising risk mitigation throughout uncertain environments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·Strategic flexibility emerges as a critical capability with enabling firms to make investment commitments and modify entry modes 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·These are in accordance to changing economic conditions and market conditions (Fujimori et al., 2022)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·Regulatory and institutional pressure within host countries encourage organisations in adopting collaborative entry approaches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·These involves strategic partnership and joint ventures in reducing legitimacy and operational risks (Akinsola et al., 2025)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·The findings reinforce established internationalisation theories (Uppsala internationalisation model)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·It emphasises gradual market commitments with experimental learning in foreign expansion decisions (Guercini and Milanesi, 2022)</a:t>
            </a:r>
          </a:p>
          <a:p>
            <a:pPr algn="l">
              <a:lnSpc>
                <a:spcPts val="1092"/>
              </a:lnSpc>
            </a:pPr>
            <a:endParaRPr lang="en-US" sz="7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scussion Slide" id="{1E6415C5-C76B-EA4E-A0BE-760F76726EC2}" vid="{F1B8A864-1403-B948-A09D-C0E8D3EEBB0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778</Words>
  <Application>Microsoft Macintosh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Times New Roman Italics</vt:lpstr>
      <vt:lpstr>Times New Roman Bold</vt:lpstr>
      <vt:lpstr>Arial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RAMA MANGINENI</dc:creator>
  <cp:keywords/>
  <dc:description/>
  <cp:lastModifiedBy>Rama Koteswara Rao Mangineni</cp:lastModifiedBy>
  <cp:revision>3</cp:revision>
  <dcterms:created xsi:type="dcterms:W3CDTF">2026-02-19T11:28:23Z</dcterms:created>
  <dcterms:modified xsi:type="dcterms:W3CDTF">2026-02-19T11:38:09Z</dcterms:modified>
  <cp:category/>
  <dc:identifier>DAHBv2b5xqI</dc:identifier>
</cp:coreProperties>
</file>